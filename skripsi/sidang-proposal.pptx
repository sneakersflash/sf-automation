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</Types>
</file>

<file path=_rels/.rels><?xml version="1.0" encoding="UTF-8" standalone="yes"?><Relationships xmlns="http://schemas.openxmlformats.org/officeDocument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</p:sldIdLst>
  <p:sldSz cx="12192000" cy="6858000"/>
  <p:notesSz cx="6858000" cy="12192000"/>
</p:presentation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officeDocument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/Relationships>
</file>

<file path=ppt/notesMasters/_rels/notesMaster1.xml.rels><?xml version="1.0" encoding="UTF-8" standalone="yes"?><Relationships xmlns="http://schemas.openxmlformats.org/officeDocument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Slides/_rels/notesSlide2.xml.rels><?xml version="1.0" encoding="UTF-8" standalone="yes"?><Relationships xmlns="http://schemas.openxmlformats.org/officeDocument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 standalone="yes"?><Relationships xmlns="http://schemas.openxmlformats.org/officeDocument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 standalone="yes"?><Relationships xmlns="http://schemas.openxmlformats.org/officeDocument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 standalone="yes"?><Relationships xmlns="http://schemas.openxmlformats.org/officeDocument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 standalone="yes"?><Relationships xmlns="http://schemas.openxmlformats.org/officeDocument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 standalone="yes"?><Relationships xmlns="http://schemas.openxmlformats.org/officeDocument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 standalone="yes"?><Relationships xmlns="http://schemas.openxmlformats.org/officeDocument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 standalone="yes"?><Relationships xmlns="http://schemas.openxmlformats.org/officeDocument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 standalone="yes"?><Relationships xmlns="http://schemas.openxmlformats.org/officeDocument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 standalone="yes"?><Relationships xmlns="http://schemas.openxmlformats.org/officeDocument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 standalone="yes"?><Relationships xmlns="http://schemas.openxmlformats.org/officeDocument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 standalone="yes"?><Relationships xmlns="http://schemas.openxmlformats.org/officeDocument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tan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Angka ini estimasi retrospektif dari praktik kerja tim, bukan catatan waktu</a:t>
            </a:r>
          </a:p>
          <a:p>
            <a:r>
              <a:rPr lang="id-ID" dirty="0"/>
              <a:t>yang terekam sistem. Keterbatasan itu dinyatakan pada batasan 1.4 butir g,</a:t>
            </a:r>
          </a:p>
          <a:p>
            <a:r>
              <a:rPr lang="id-ID" dirty="0"/>
              <a:t>dan itulah sebabnya analisisnya deskriptif, bukan uji statistik.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Rentang 1-3 jam adalah kondisi normal; 12 jam terjadi pada materi yang</a:t>
            </a:r>
          </a:p>
          <a:p>
            <a:r>
              <a:rPr lang="id-ID" dirty="0"/>
              <a:t>butuh riset produk dan beberapa kali revisi.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Persoalan kelima yang tidak muat di slide: standar merek yang berlaku belum</a:t>
            </a:r>
          </a:p>
          <a:p>
            <a:r>
              <a:rPr lang="id-ID" dirty="0"/>
              <a:t>dapat dipakai ulang untuk merek lain. Ini yang dijawab profil merek</a:t>
            </a:r>
          </a:p>
          <a:p>
            <a:r>
              <a:rPr lang="id-ID" dirty="0"/>
              <a:t>terstruktur sebagai data, bukan sebagai kode.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tan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20 penelitian terdahulu ditinjau: 10 naratif di 2.1, 10 pada Tabel 2.1.</a:t>
            </a:r>
          </a:p>
          <a:p>
            <a:r>
              <a:rPr lang="id-ID" dirty="0"/>
              <a:t>Tiga kelompok temuannya:</a:t>
            </a:r>
          </a:p>
          <a:p>
            <a:r>
              <a:rPr lang="id-ID" dirty="0"/>
              <a:t/>
            </a:r>
          </a:p>
          <a:p>
            <a:r>
              <a:rPr lang="id-ID" dirty="0"/>
              <a:t>1. Kajian multi-agent (Tran dkk. 2025, Lin dkk. 2025, Yan dkk. 2025) sudah</a:t>
            </a:r>
          </a:p>
          <a:p>
            <a:r>
              <a:rPr lang="id-ID" dirty="0"/>
              <a:t>   memetakan mekanisme kolaborasi, tetapi berhenti di tataran konsep.</a:t>
            </a:r>
          </a:p>
          <a:p>
            <a:r>
              <a:rPr lang="id-ID" dirty="0"/>
              <a:t>2. Penerapan pada pemasaran menempatkan agen di sisi konsumen (Chu dkk.</a:t>
            </a:r>
          </a:p>
          <a:p>
            <a:r>
              <a:rPr lang="id-ID" dirty="0"/>
              <a:t>   2025), bukan di sisi produksi materi. Wang dkk. (2025) menemukan model</a:t>
            </a:r>
          </a:p>
          <a:p>
            <a:r>
              <a:rPr lang="id-ID" dirty="0"/>
              <a:t>   kesulitan meniru gaya yang tidak dinyatakan eksplisit — inilah yang</a:t>
            </a:r>
          </a:p>
          <a:p>
            <a:r>
              <a:rPr lang="id-ID" dirty="0"/>
              <a:t>   dijawab profil merek terstruktur.</a:t>
            </a:r>
          </a:p>
          <a:p>
            <a:r>
              <a:rPr lang="id-ID" dirty="0"/>
              <a:t>3. Rancang bangun sistem informasi di Indonesia berhenti pada pengujian</a:t>
            </a:r>
          </a:p>
          <a:p>
            <a:r>
              <a:rPr lang="id-ID" dirty="0"/>
              <a:t>   kesesuaian fungsi; tidak satu pun menilai mutu materi yang dihasilkan.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Kalau ditanya apa barunya: bukan salah satu dari keempat butir itu,</a:t>
            </a:r>
          </a:p>
          <a:p>
            <a:r>
              <a:rPr lang="id-ID" dirty="0"/>
              <a:t>melainkan gabungan keempatnya dalam konteks ritel berbahasa Indonesia.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tan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Batasan yang paling mungkin ditanyakan: kenapa kontribusi multi-agent tidak</a:t>
            </a:r>
          </a:p>
          <a:p>
            <a:r>
              <a:rPr lang="id-ID" dirty="0"/>
              <a:t>diisolasi. Jawabannya, antarmuka terpusat dan arsitektur agen diterapkan</a:t>
            </a:r>
          </a:p>
          <a:p>
            <a:r>
              <a:rPr lang="id-ID" dirty="0"/>
              <a:t>bersamaan, jadi keduanya tidak dapat dipisahkan secara jujur. Dinyatakan</a:t>
            </a:r>
          </a:p>
          <a:p>
            <a:r>
              <a:rPr lang="id-ID" dirty="0"/>
              <a:t>terbuka, bukan disembunyikan.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PENTING — generasi gambar (slide 10) TIDAK termasuk butir c. Kalau penguji</a:t>
            </a:r>
          </a:p>
          <a:p>
            <a:r>
              <a:rPr lang="id-ID" dirty="0"/>
              <a:t>menyorotinya, akui terus terang: itu bagian sistem yang dibangun tetapi</a:t>
            </a:r>
          </a:p>
          <a:p>
            <a:r>
              <a:rPr lang="id-ID" dirty="0"/>
              <a:t>berada di luar yang dinilai penelitian ini. Kalau pembimbing ingin ikut</a:t>
            </a:r>
          </a:p>
          <a:p>
            <a:r>
              <a:rPr lang="id-ID" dirty="0"/>
              <a:t>dinilai, batasan 1.4 butir c harus direvisi lebih dulu.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tan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Alurnya lurus dari masalah ke hasil yang diharapkan. Gambar 2.1 menyusul.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Sembilan sub-bab landasan teori mendasarinya: produksi konten digital, AI</a:t>
            </a:r>
          </a:p>
          <a:p>
            <a:r>
              <a:rPr lang="id-ID" dirty="0"/>
              <a:t>generatif dan LLM, agen cerdas dan multi-agent, brand voice, otomasi alur</a:t>
            </a:r>
          </a:p>
          <a:p>
            <a:r>
              <a:rPr lang="id-ID" dirty="0"/>
              <a:t>kerja dan antrian, arsitektur web dan REST API, RAD, rubrik dan kesepakatan</a:t>
            </a:r>
          </a:p>
          <a:p>
            <a:r>
              <a:rPr lang="id-ID" dirty="0"/>
              <a:t>antar-penilai, serta UML dan ERD.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tan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Aturan satu pintu bukan gaya-gayaan: kunci rahasia hanya ada di peladen,</a:t>
            </a:r>
          </a:p>
          <a:p>
            <a:r>
              <a:rPr lang="id-ID" dirty="0"/>
              <a:t>dan setiap permintaan bisa dicatat karena semuanya lewat satu tempat.</a:t>
            </a:r>
          </a:p>
          <a:p>
            <a:r>
              <a:rPr lang="id-ID" dirty="0"/>
              <a:t>Tanpa itu, pencatatan tidak dapat dijamin lengkap.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Yang perlu ditekankan soal sistem lama: AI sebenarnya SUDAH dipakai. Jadi</a:t>
            </a:r>
          </a:p>
          <a:p>
            <a:r>
              <a:rPr lang="id-ID" dirty="0"/>
              <a:t>penelitian ini bukan soal memperkenalkan AI, melainkan memberinya struktur</a:t>
            </a:r>
          </a:p>
          <a:p>
            <a:r>
              <a:rPr lang="id-ID" dirty="0"/>
              <a:t>dan konteks. Gambar 3.1 memuat activity diagram alur lama itu.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tan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Nama teknisnya sf-content-brief, sf-copywriting, sf-humanize, dan sf-ads,</a:t>
            </a:r>
          </a:p>
          <a:p>
            <a:r>
              <a:rPr lang="id-ID" dirty="0"/>
              <a:t>berjalan di atas OpenClaw Gateway.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Pertanyaan yang paling mungkin diajukan penguji: apa bedanya dengan sekadar</a:t>
            </a:r>
          </a:p>
          <a:p>
            <a:r>
              <a:rPr lang="id-ID" dirty="0"/>
              <a:t>memanggil ChatGPT empat kali?</a:t>
            </a:r>
          </a:p>
          <a:p>
            <a:r>
              <a:rPr lang="id-ID" dirty="0"/>
              <a:t/>
            </a:r>
          </a:p>
          <a:p>
            <a:r>
              <a:rPr lang="id-ID" dirty="0"/>
              <a:t>Bedanya, tiap agen punya kontrak tertulis yang tetap dan terversi (berkas</a:t>
            </a:r>
          </a:p>
          <a:p>
            <a:r>
              <a:rPr lang="id-ID" dirty="0"/>
              <a:t>SKILL.md). Perintah tidak disusun ulang tiap kali oleh admin, melainkan</a:t>
            </a:r>
          </a:p>
          <a:p>
            <a:r>
              <a:rPr lang="id-ID" dirty="0"/>
              <a:t>sudah tertanam sebagai berkas. Isinya dapat diperbaiki tanpa menyentuh kode</a:t>
            </a:r>
          </a:p>
          <a:p>
            <a:r>
              <a:rPr lang="id-ID" dirty="0"/>
              <a:t>backend, dan perbaikannya langsung berlaku pada panggilan berikutnya.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Pemisahan per agen juga bukan sekadar kerapian: tiap agen hanya membaca</a:t>
            </a:r>
          </a:p>
          <a:p>
            <a:r>
              <a:rPr lang="id-ID" dirty="0"/>
              <a:t>aturan yang relevan dengan tugasnya, sehingga instruksinya bisa spesifik</a:t>
            </a:r>
          </a:p>
          <a:p>
            <a:r>
              <a:rPr lang="id-ID" dirty="0"/>
              <a:t>dan panjang tanpa saling mengganggu.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Konsekuensi metodologis: yang diuji adalah rancangan pembagian tugas dan</a:t>
            </a:r>
          </a:p>
          <a:p>
            <a:r>
              <a:rPr lang="id-ID" dirty="0"/>
              <a:t>konteks, bukan model bahasanya — sesuai batasan 1.4 butir 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tan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Langkah 3 paling sering disalahpahami. Backend hanya mengirim kalimat</a:t>
            </a:r>
          </a:p>
          <a:p>
            <a:r>
              <a:rPr lang="id-ID" dirty="0"/>
              <a:t>pemicu singkat berisi nama skill dan data dalam bentuk JSON. Ia tidak</a:t>
            </a:r>
          </a:p>
          <a:p>
            <a:r>
              <a:rPr lang="id-ID" dirty="0"/>
              <a:t>memuat perintah kreatif sama sekali — itu Golden Rule sistem ini.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Langkah 4: pemilihan agen dilakukan lewat penamaan model pada permintaan</a:t>
            </a:r>
          </a:p>
          <a:p>
            <a:r>
              <a:rPr lang="id-ID" dirty="0"/>
              <a:t>(model: openclaw/&lt;agentId&gt;). Nama yang salah ditolak gerbang, jadi tidak</a:t>
            </a:r>
          </a:p>
          <a:p>
            <a:r>
              <a:rPr lang="id-ID" dirty="0"/>
              <a:t>mungkin diam-diam salah agen.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Kalau keluaran bukan JSON yang sah, permintaan diulang sekali. Masih gagal,</a:t>
            </a:r>
          </a:p>
          <a:p>
            <a:r>
              <a:rPr lang="id-ID" dirty="0"/>
              <a:t>pengguna menerima pesan yang dapat ditindaklanjuti — bukan jejak galat.</a:t>
            </a:r>
          </a:p>
          <a:p>
            <a:r>
              <a:rPr lang="id-ID" dirty="0"/>
              <a:t>Ini memenuhi kebutuhan non-fungsional keandalan pada 3.1.5.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Tahap penghalusan bersifat guarded: kalau gerbang gagal, teks asli yang</a:t>
            </a:r>
          </a:p>
          <a:p>
            <a:r>
              <a:rPr lang="id-ID" dirty="0"/>
              <a:t>dipakai, permintaan utama tidak diblokir.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Untuk proses gabungan (beberapa materi sekaligus), tugas dititipkan ke</a:t>
            </a:r>
          </a:p>
          <a:p>
            <a:r>
              <a:rPr lang="id-ID" dirty="0"/>
              <a:t>antrian di latar; pengguna menerima nomor tugas dan antarmuka tidak</a:t>
            </a:r>
          </a:p>
          <a:p>
            <a:r>
              <a:rPr lang="id-ID" dirty="0"/>
              <a:t>terkunci. Dua ringkasan digarap bersamaan karena tidak saling bergantung.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tan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Slide ini menjawab langsung temuan Wang dkk. (2025): model kesulitan meniru</a:t>
            </a:r>
          </a:p>
          <a:p>
            <a:r>
              <a:rPr lang="id-ID" dirty="0"/>
              <a:t>gaya yang tidak dinyatakan eksplisit. Di sini gaya dibuat eksplisit,</a:t>
            </a:r>
          </a:p>
          <a:p>
            <a:r>
              <a:rPr lang="id-ID" dirty="0"/>
              <a:t>terstruktur, dan tersimpan sebagai data — bukan tersirat dalam contoh.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Karena profilnya data, ia dapat diubah pemilik merek lewat antarmuka tanpa</a:t>
            </a:r>
          </a:p>
          <a:p>
            <a:r>
              <a:rPr lang="id-ID" dirty="0"/>
              <a:t>menyentuh kode, dan dapat dipakai ulang untuk merek lain. Itu menjawab</a:t>
            </a:r>
          </a:p>
          <a:p>
            <a:r>
              <a:rPr lang="id-ID" dirty="0"/>
              <a:t>persoalan kelima pada identifikasi masalah.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Aturan anti-jiplak penting dijelaskan: tanpa itu, sistem cenderung menyalin</a:t>
            </a:r>
          </a:p>
          <a:p>
            <a:r>
              <a:rPr lang="id-ID" dirty="0"/>
              <a:t>ulang contoh naskah, sehingga tampak konsisten tetapi tidak menghasilkan</a:t>
            </a:r>
          </a:p>
          <a:p>
            <a:r>
              <a:rPr lang="id-ID" dirty="0"/>
              <a:t>gagasan baru.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tan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Layanan gambarnya kie.ai, model nano-banana-2, lewat Jobs API.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HATI-HATI. Generasi gambar TIDAK disebut pada batasan 1.4 butir c, yang</a:t>
            </a:r>
          </a:p>
          <a:p>
            <a:r>
              <a:rPr lang="id-ID" dirty="0"/>
              <a:t>membatasi modul pada ringkasan konten, penulisan naskah, dan penghalusan</a:t>
            </a:r>
          </a:p>
          <a:p>
            <a:r>
              <a:rPr lang="id-ID" dirty="0"/>
              <a:t>teks. Kalau penguji bertanya, akui terus terang: fitur ini dibangun tetapi</a:t>
            </a:r>
          </a:p>
          <a:p>
            <a:r>
              <a:rPr lang="id-ID" dirty="0"/>
              <a:t>berada di luar yang diukur. Jangan diklaim sebagai bagian hasil penelitian.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Kalau pembimbing ingin ikut dinilai, batasan 1.4 butir c harus direvisi</a:t>
            </a:r>
          </a:p>
          <a:p>
            <a:r>
              <a:rPr lang="id-ID" dirty="0"/>
              <a:t>lebih dulu, dan rubrik perlu dimensi tambahan untuk mutu visual.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Detail teknis kalau ditanya: pemanggilan balik dijaga rahasia bersama, dan</a:t>
            </a:r>
          </a:p>
          <a:p>
            <a:r>
              <a:rPr lang="id-ID" dirty="0"/>
              <a:t>ada pemeriksa cadangan berjadwal kalau kabar baliknya telat atau gagal.</a:t>
            </a:r>
          </a:p>
          <a:p>
            <a:r>
              <a:rPr lang="id-ID" dirty="0"/>
              <a:t>Ada pengaman berlapis pada prompt supaya detail produk tidak hilang dan</a:t>
            </a:r>
          </a:p>
          <a:p>
            <a:r>
              <a:rPr lang="id-ID" dirty="0"/>
              <a:t>skala objek tetap wajar — dua lapis, di berkas aturan agen dan di backend.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tan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Nama aslinya: OpenClaw Gateway, kie.ai, Ginee OpenAPI, serta Meta dan</a:t>
            </a:r>
          </a:p>
          <a:p>
            <a:r>
              <a:rPr lang="id-ID" dirty="0"/>
              <a:t>TikTok. Keempatnya dipanggil langsung dari backend — tidak ada satu pun</a:t>
            </a:r>
          </a:p>
          <a:p>
            <a:r>
              <a:rPr lang="id-ID" dirty="0"/>
              <a:t>yang diakses antarmuka secara langsung.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Dua yang menunggu kredensial sudah lengkap kodenya, termasuk penandatanganan</a:t>
            </a:r>
          </a:p>
          <a:p>
            <a:r>
              <a:rPr lang="id-ID" dirty="0"/>
              <a:t>permintaan dan penyimpanan token secara terenkripsi. Yang belum ada hanya</a:t>
            </a:r>
          </a:p>
          <a:p>
            <a:r>
              <a:rPr lang="id-ID" dirty="0"/>
              <a:t>kunci aksesnya.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Pengaman pada jalur iklan yang layak disebut kalau ditanya: sistem bersifat</a:t>
            </a:r>
          </a:p>
          <a:p>
            <a:r>
              <a:rPr lang="id-ID" dirty="0"/>
              <a:t>baca-saja secara bawaan. Setiap aksi berbayar masuk antrian persetujuan dan</a:t>
            </a:r>
          </a:p>
          <a:p>
            <a:r>
              <a:rPr lang="id-ID" dirty="0"/>
              <a:t>hanya pemilik yang boleh menyetujui. Ini keputusan rancangan, bukan</a:t>
            </a:r>
          </a:p>
          <a:p>
            <a:r>
              <a:rPr lang="id-ID" dirty="0"/>
              <a:t>keterbatasan.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Kenapa peta ini ditampilkan padahal sebagian besar di luar lingkup: supaya</a:t>
            </a:r>
          </a:p>
          <a:p>
            <a:r>
              <a:rPr lang="id-ID" dirty="0"/>
              <a:t>jelas bahwa batasan penelitian adalah pilihan sadar, bukan karena sistemnya</a:t>
            </a:r>
          </a:p>
          <a:p>
            <a:r>
              <a:rPr lang="id-ID" dirty="0"/>
              <a:t>tidak mampu.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tan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Kelima dimensi diturunkan dari bidang profil merek pada sistem, sehingga</a:t>
            </a:r>
          </a:p>
          <a:p>
            <a:r>
              <a:rPr lang="id-ID" dirty="0"/>
              <a:t>penilaian dapat ditelusuri ke acuan yang benar-benar dipakai saat naskah</a:t>
            </a:r>
          </a:p>
          <a:p>
            <a:r>
              <a:rPr lang="id-ID" dirty="0"/>
              <a:t>dihasilkan. Deskriptor tiap tingkat ditulis operasional agar penilai tidak</a:t>
            </a:r>
          </a:p>
          <a:p>
            <a:r>
              <a:rPr lang="id-ID" dirty="0"/>
              <a:t>menafsirkan sendiri batas antar-tingkat.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Kategori skor: 17-20 sangat konsisten, 13-16 konsisten, 9-12 cukup,</a:t>
            </a:r>
          </a:p>
          <a:p>
            <a:r>
              <a:rPr lang="id-ID" dirty="0"/>
              <a:t>5-8 tidak konsisten.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Tidak ada uji statistik parametrik karena syarat pengukuran setara pada</a:t>
            </a:r>
          </a:p>
          <a:p>
            <a:r>
              <a:rPr lang="id-ID" dirty="0"/>
              <a:t>kedua kelompok tidak terpenuhi. Selain durasi, penyempitan rentang juga</a:t>
            </a:r>
          </a:p>
          <a:p>
            <a:r>
              <a:rPr lang="id-ID" dirty="0"/>
              <a:t>dilaporkan sebagai indikator meningkatnya keterdugaan proses.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Yang masih terbuka dan sebaiknya disampaikan jujur: batas kategori bersifat</a:t>
            </a:r>
          </a:p>
          <a:p>
            <a:r>
              <a:rPr lang="id-ID" dirty="0"/>
              <a:t>usulan, dan validitas isi rubrik perlu ditelaah pembimbing sebelum dipakai.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tan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Rancangan pengujian ini menjawab keberatan yang paling mungkin diajukan:</a:t>
            </a:r>
          </a:p>
          <a:p>
            <a:r>
              <a:rPr lang="id-ID" dirty="0"/>
              <a:t>peneliti adalah bagian dari instansi yang diteliti. Lebih baik disampaikan</a:t>
            </a:r>
          </a:p>
          <a:p>
            <a:r>
              <a:rPr lang="id-ID" dirty="0"/>
              <a:t>lebih dulu daripada menunggu ditanya.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Yang belum ditetapkan dan sebaiknya diakui terbuka: jumlah naskah yang</a:t>
            </a:r>
          </a:p>
          <a:p>
            <a:r>
              <a:rPr lang="id-ID" dirty="0"/>
              <a:t>diuji serta jumlah dan asal penilai. Keduanya menunggu materi terkumpul.</a:t>
            </a:r>
          </a:p>
          <a:p>
            <a:r>
              <a:rPr lang="id-ID" dirty="0"/>
              <a:t>Penilai dari luar tim jauh lebih kuat menahan keberatan soal keberpihakan.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Pengujian fungsional memakai metode black box terhadap 21 kebutuhan pada</a:t>
            </a:r>
          </a:p>
          <a:p>
            <a:r>
              <a:rPr lang="id-ID" dirty="0"/>
              <a:t>Tabel 3.1.</a:t>
            </a:r>
          </a:p>
          <a:p>
            <a:r>
              <a:rPr lang="id-ID" dirty="0"/>
              <a:t/>
            </a:r>
          </a:p>
          <a:p>
            <a:r>
              <a:rPr lang="id-ID" dirty="0"/>
              <a:t>Metode perancangan sistem: RAD, empat tahap — Requirements Planning, User</a:t>
            </a:r>
          </a:p>
          <a:p>
            <a:r>
              <a:rPr lang="id-ID" dirty="0"/>
              <a:t>Design, Construction, Cutover (Gambar 3.5). Dipilih karena putaran umpan</a:t>
            </a:r>
          </a:p>
          <a:p>
            <a:r>
              <a:rPr lang="id-ID" dirty="0"/>
              <a:t>baliknya nyata: konteks merek baru ditambahkan setelah keluaran prototipe</a:t>
            </a:r>
          </a:p>
          <a:p>
            <a:r>
              <a:rPr lang="id-ID" dirty="0"/>
              <a:t>dinilai masih terlalu umum. Rentang pengerjaan 60 hari juga cocok dengan</a:t>
            </a:r>
          </a:p>
          <a:p>
            <a:r>
              <a:rPr lang="id-ID" dirty="0"/>
              <a:t>siklus pendek RAD.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officeDocument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officeDocument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dang 2"/>
          <p:cNvSpPr/>
          <p:nvPr/>
        </p:nvSpPr>
        <p:spPr>
          <a:xfrm>
            <a:off x="0" y="0"/>
            <a:ext cx="12192000" cy="20955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idang 3"/>
          <p:cNvSpPr/>
          <p:nvPr/>
        </p:nvSpPr>
        <p:spPr>
          <a:xfrm>
            <a:off x="0" y="6103620"/>
            <a:ext cx="12192000" cy="754380"/>
          </a:xfrm>
          <a:prstGeom prst="rect">
            <a:avLst/>
          </a:prstGeom>
          <a:solidFill>
            <a:srgbClr val="12324F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838200" y="960120"/>
            <a:ext cx="1051560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300" dirty="0">
                <a:solidFill>
                  <a:srgbClr val="E4572E"/>
                </a:solidFill>
                <a:latin typeface="Calibri"/>
                <a:cs typeface="Calibri"/>
              </a:rPr>
              <a:t>PROPOSAL SKRIPSI</a:t>
            </a:r>
          </a:p>
        </p:txBody>
      </p:sp>
      <p:sp>
        <p:nvSpPr>
          <p:cNvPr id="5" name="Teks 5"/>
          <p:cNvSpPr txBox="1"/>
          <p:nvPr/>
        </p:nvSpPr>
        <p:spPr>
          <a:xfrm>
            <a:off x="838200" y="1420368"/>
            <a:ext cx="9052560" cy="22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3000" b="1" dirty="0">
                <a:solidFill>
                  <a:srgbClr val="12324F"/>
                </a:solidFill>
                <a:latin typeface="Calibri"/>
                <a:cs typeface="Calibri"/>
              </a:rPr>
              <a:t>Perancangan Sistem Otomasi Produksi Konten Pemasaran Berbasis </a:t>
            </a:r>
            <a:r>
              <a:rPr lang="id-ID" sz="3000" b="1" i="1" dirty="0">
                <a:solidFill>
                  <a:srgbClr val="12324F"/>
                </a:solidFill>
                <a:latin typeface="Calibri"/>
                <a:cs typeface="Calibri"/>
              </a:rPr>
              <a:t>Multi-Agent</a:t>
            </a:r>
            <a:r>
              <a:rPr lang="id-ID" sz="3000" b="1" dirty="0">
                <a:solidFill>
                  <a:srgbClr val="12324F"/>
                </a:solidFill>
                <a:latin typeface="Calibri"/>
                <a:cs typeface="Calibri"/>
              </a:rPr>
              <a:t> AI untuk Meningkatkan Efisiensi dan Konsistensi </a:t>
            </a:r>
            <a:r>
              <a:rPr lang="id-ID" sz="3000" b="1" i="1" dirty="0">
                <a:solidFill>
                  <a:srgbClr val="12324F"/>
                </a:solidFill>
                <a:latin typeface="Calibri"/>
                <a:cs typeface="Calibri"/>
              </a:rPr>
              <a:t>Brand Voice</a:t>
            </a:r>
          </a:p>
        </p:txBody>
      </p:sp>
      <p:sp>
        <p:nvSpPr>
          <p:cNvPr id="6" name="Teks 6"/>
          <p:cNvSpPr txBox="1"/>
          <p:nvPr/>
        </p:nvSpPr>
        <p:spPr>
          <a:xfrm>
            <a:off x="838200" y="3810000"/>
            <a:ext cx="1051560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700" dirty="0">
                <a:solidFill>
                  <a:srgbClr val="233642"/>
                </a:solidFill>
                <a:latin typeface="Calibri"/>
                <a:cs typeface="Calibri"/>
              </a:rPr>
              <a:t>Studi Kasus: SneakersFlash</a:t>
            </a:r>
          </a:p>
        </p:txBody>
      </p:sp>
      <p:sp>
        <p:nvSpPr>
          <p:cNvPr id="7" name="Bidang 7"/>
          <p:cNvSpPr/>
          <p:nvPr/>
        </p:nvSpPr>
        <p:spPr>
          <a:xfrm>
            <a:off x="838200" y="434340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eks 8"/>
          <p:cNvSpPr txBox="1"/>
          <p:nvPr/>
        </p:nvSpPr>
        <p:spPr>
          <a:xfrm>
            <a:off x="838200" y="4526280"/>
            <a:ext cx="8915400" cy="12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800" b="1" dirty="0">
                <a:solidFill>
                  <a:srgbClr val="12324F"/>
                </a:solidFill>
                <a:latin typeface="Calibri"/>
                <a:cs typeface="Calibri"/>
              </a:rPr>
              <a:t>Muhammad Faizal Triasa</a:t>
            </a:r>
          </a:p>
          <a:p>
            <a:pPr marL="0" indent="0" algn="l">
              <a:lnSpc>
                <a:spcPct val="102000"/>
              </a:lnSpc>
              <a:spcBef>
                <a:spcPts val="200"/>
              </a:spcBef>
              <a:buNone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NIM 231011701215</a:t>
            </a:r>
          </a:p>
          <a:p>
            <a:pPr marL="0" indent="0" algn="l">
              <a:lnSpc>
                <a:spcPct val="102000"/>
              </a:lnSpc>
              <a:spcBef>
                <a:spcPts val="200"/>
              </a:spcBef>
              <a:buNone/>
            </a:pPr>
            <a:r>
              <a:rPr lang="id-ID" sz="1400" dirty="0">
                <a:solidFill>
                  <a:srgbClr val="6B7A85"/>
                </a:solidFill>
                <a:latin typeface="Calibri"/>
                <a:cs typeface="Calibri"/>
              </a:rPr>
              <a:t>Program Studi Sistem Informasi S-1 · Fakultas Ilmu Komputer</a:t>
            </a:r>
          </a:p>
          <a:p>
            <a:pPr marL="0" indent="0" algn="l">
              <a:lnSpc>
                <a:spcPct val="102000"/>
              </a:lnSpc>
              <a:spcBef>
                <a:spcPts val="300"/>
              </a:spcBef>
              <a:buNone/>
            </a:pPr>
            <a:r>
              <a:rPr lang="id-ID" sz="1400" dirty="0">
                <a:solidFill>
                  <a:srgbClr val="6B7A85"/>
                </a:solidFill>
                <a:latin typeface="Calibri"/>
                <a:cs typeface="Calibri"/>
              </a:rPr>
              <a:t>Dosen Pembimbing: [nama dan gelar pembimbing]</a:t>
            </a:r>
          </a:p>
        </p:txBody>
      </p:sp>
      <p:sp>
        <p:nvSpPr>
          <p:cNvPr id="9" name="Bidang 9"/>
          <p:cNvSpPr/>
          <p:nvPr/>
        </p:nvSpPr>
        <p:spPr>
          <a:xfrm>
            <a:off x="10165080" y="960120"/>
            <a:ext cx="1188720" cy="1188720"/>
          </a:xfrm>
          <a:prstGeom prst="rect">
            <a:avLst/>
          </a:prstGeom>
          <a:solidFill>
            <a:srgbClr val="F2F5F7"/>
          </a:solidFill>
          <a:ln w="12700">
            <a:solidFill>
              <a:srgbClr val="6B7A85"/>
            </a:solidFill>
            <a:prstDash val="dash"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10302240" y="960120"/>
            <a:ext cx="914400" cy="11887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dirty="0">
                <a:solidFill>
                  <a:srgbClr val="6B7A85"/>
                </a:solidFill>
                <a:latin typeface="Calibri"/>
                <a:cs typeface="Calibri"/>
              </a:rPr>
              <a:t>[ sisipkan logo Unpam 4 x 4 cm ]</a:t>
            </a:r>
          </a:p>
        </p:txBody>
      </p:sp>
      <p:sp>
        <p:nvSpPr>
          <p:cNvPr id="11" name="Teks 11"/>
          <p:cNvSpPr txBox="1"/>
          <p:nvPr/>
        </p:nvSpPr>
        <p:spPr>
          <a:xfrm>
            <a:off x="838200" y="6352540"/>
            <a:ext cx="10515600" cy="4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FFFFFF"/>
                </a:solidFill>
                <a:latin typeface="Calibri"/>
                <a:cs typeface="Calibri"/>
              </a:rPr>
              <a:t>Universitas Pamulang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Masalah di SneakersFlash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 · 1.1 dan 1.2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2423160" cy="17373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Bidang 6"/>
          <p:cNvSpPr/>
          <p:nvPr/>
        </p:nvSpPr>
        <p:spPr>
          <a:xfrm>
            <a:off x="838200" y="1508760"/>
            <a:ext cx="242316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975360" y="182880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3000" b="1" dirty="0">
                <a:solidFill>
                  <a:srgbClr val="12324F"/>
                </a:solidFill>
                <a:latin typeface="Calibri"/>
                <a:cs typeface="Calibri"/>
              </a:rPr>
              <a:t>1–3 jam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975360" y="2560320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50" dirty="0">
                <a:solidFill>
                  <a:srgbClr val="6B7A85"/>
                </a:solidFill>
                <a:latin typeface="Calibri"/>
                <a:cs typeface="Calibri"/>
              </a:rPr>
              <a:t>penyiapan satu materi konten</a:t>
            </a:r>
          </a:p>
        </p:txBody>
      </p:sp>
      <p:sp>
        <p:nvSpPr>
          <p:cNvPr id="9" name="Bidang 9"/>
          <p:cNvSpPr/>
          <p:nvPr/>
        </p:nvSpPr>
        <p:spPr>
          <a:xfrm>
            <a:off x="3535680" y="1508760"/>
            <a:ext cx="2423160" cy="17373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Bidang 10"/>
          <p:cNvSpPr/>
          <p:nvPr/>
        </p:nvSpPr>
        <p:spPr>
          <a:xfrm>
            <a:off x="3535680" y="1508760"/>
            <a:ext cx="242316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ks 11"/>
          <p:cNvSpPr txBox="1"/>
          <p:nvPr/>
        </p:nvSpPr>
        <p:spPr>
          <a:xfrm>
            <a:off x="3672840" y="182880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3000" b="1" dirty="0">
                <a:solidFill>
                  <a:srgbClr val="12324F"/>
                </a:solidFill>
                <a:latin typeface="Calibri"/>
                <a:cs typeface="Calibri"/>
              </a:rPr>
              <a:t>12 jam</a:t>
            </a:r>
          </a:p>
        </p:txBody>
      </p:sp>
      <p:sp>
        <p:nvSpPr>
          <p:cNvPr id="12" name="Teks 12"/>
          <p:cNvSpPr txBox="1"/>
          <p:nvPr/>
        </p:nvSpPr>
        <p:spPr>
          <a:xfrm>
            <a:off x="3672840" y="2560320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50" dirty="0">
                <a:solidFill>
                  <a:srgbClr val="6B7A85"/>
                </a:solidFill>
                <a:latin typeface="Calibri"/>
                <a:cs typeface="Calibri"/>
              </a:rPr>
              <a:t>kasus ekstrem yang pernah terjadi</a:t>
            </a:r>
          </a:p>
        </p:txBody>
      </p:sp>
      <p:sp>
        <p:nvSpPr>
          <p:cNvPr id="13" name="Bidang 13"/>
          <p:cNvSpPr/>
          <p:nvPr/>
        </p:nvSpPr>
        <p:spPr>
          <a:xfrm>
            <a:off x="6233160" y="1508760"/>
            <a:ext cx="2423160" cy="17373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Bidang 14"/>
          <p:cNvSpPr/>
          <p:nvPr/>
        </p:nvSpPr>
        <p:spPr>
          <a:xfrm>
            <a:off x="6233160" y="1508760"/>
            <a:ext cx="242316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ks 15"/>
          <p:cNvSpPr txBox="1"/>
          <p:nvPr/>
        </p:nvSpPr>
        <p:spPr>
          <a:xfrm>
            <a:off x="6370320" y="182880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3000" b="1" dirty="0">
                <a:solidFill>
                  <a:srgbClr val="12324F"/>
                </a:solidFill>
                <a:latin typeface="Calibri"/>
                <a:cs typeface="Calibri"/>
              </a:rPr>
              <a:t>5 materi</a:t>
            </a:r>
          </a:p>
        </p:txBody>
      </p:sp>
      <p:sp>
        <p:nvSpPr>
          <p:cNvPr id="16" name="Teks 16"/>
          <p:cNvSpPr txBox="1"/>
          <p:nvPr/>
        </p:nvSpPr>
        <p:spPr>
          <a:xfrm>
            <a:off x="6370320" y="2560320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50" dirty="0">
                <a:solidFill>
                  <a:srgbClr val="6B7A85"/>
                </a:solidFill>
                <a:latin typeface="Calibri"/>
                <a:cs typeface="Calibri"/>
              </a:rPr>
              <a:t>kebutuhan penerbitan per hari</a:t>
            </a:r>
          </a:p>
        </p:txBody>
      </p:sp>
      <p:sp>
        <p:nvSpPr>
          <p:cNvPr id="17" name="Bidang 17"/>
          <p:cNvSpPr/>
          <p:nvPr/>
        </p:nvSpPr>
        <p:spPr>
          <a:xfrm>
            <a:off x="8930640" y="1508760"/>
            <a:ext cx="2423160" cy="17373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Bidang 18"/>
          <p:cNvSpPr/>
          <p:nvPr/>
        </p:nvSpPr>
        <p:spPr>
          <a:xfrm>
            <a:off x="8930640" y="1508760"/>
            <a:ext cx="242316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ks 19"/>
          <p:cNvSpPr txBox="1"/>
          <p:nvPr/>
        </p:nvSpPr>
        <p:spPr>
          <a:xfrm>
            <a:off x="9067800" y="1828800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3000" b="1" dirty="0">
                <a:solidFill>
                  <a:srgbClr val="12324F"/>
                </a:solidFill>
                <a:latin typeface="Calibri"/>
                <a:cs typeface="Calibri"/>
              </a:rPr>
              <a:t>5–15 jam</a:t>
            </a:r>
          </a:p>
        </p:txBody>
      </p:sp>
      <p:sp>
        <p:nvSpPr>
          <p:cNvPr id="20" name="Teks 20"/>
          <p:cNvSpPr txBox="1"/>
          <p:nvPr/>
        </p:nvSpPr>
        <p:spPr>
          <a:xfrm>
            <a:off x="9067800" y="2560320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50" dirty="0">
                <a:solidFill>
                  <a:srgbClr val="6B7A85"/>
                </a:solidFill>
                <a:latin typeface="Calibri"/>
                <a:cs typeface="Calibri"/>
              </a:rPr>
              <a:t>beban kerja harian yang timbul</a:t>
            </a:r>
          </a:p>
        </p:txBody>
      </p:sp>
      <p:sp>
        <p:nvSpPr>
          <p:cNvPr id="21" name="Teks 21"/>
          <p:cNvSpPr txBox="1"/>
          <p:nvPr/>
        </p:nvSpPr>
        <p:spPr>
          <a:xfrm>
            <a:off x="838200" y="3703320"/>
            <a:ext cx="10515600" cy="15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i="1" dirty="0">
                <a:solidFill>
                  <a:srgbClr val="233642"/>
                </a:solidFill>
                <a:latin typeface="Calibri"/>
                <a:cs typeface="Calibri"/>
              </a:rPr>
              <a:t>Lama</a:t>
            </a: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 — melampaui jam kerja tersedia, dan rentangnya lebar sehingga jadwal peluncuran sulit disusun.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i="1" dirty="0">
                <a:solidFill>
                  <a:srgbClr val="233642"/>
                </a:solidFill>
                <a:latin typeface="Calibri"/>
                <a:cs typeface="Calibri"/>
              </a:rPr>
              <a:t>Tidak seragam</a:t>
            </a: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 — gaya bahasa berbeda antar admin; standar merek hanya kesepakatan lisan.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i="1" dirty="0">
                <a:solidFill>
                  <a:srgbClr val="233642"/>
                </a:solidFill>
                <a:latin typeface="Calibri"/>
                <a:cs typeface="Calibri"/>
              </a:rPr>
              <a:t>Generik dan tak tercatat</a:t>
            </a: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 — perintah ke AI tanpa konteks merek, dan keluarannya tidak dapat ditelusuri kembali.</a:t>
            </a:r>
          </a:p>
        </p:txBody>
      </p:sp>
      <p:sp>
        <p:nvSpPr>
          <p:cNvPr id="22" name="Bidang 22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ks 23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24" name="Teks 24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Pertanyaan Penelitian dan Celah Riset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 · 1.3 · BAB II · 2.1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ks 6"/>
          <p:cNvSpPr txBox="1"/>
          <p:nvPr/>
        </p:nvSpPr>
        <p:spPr>
          <a:xfrm>
            <a:off x="83820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Tiga pertanyaan</a:t>
            </a:r>
          </a:p>
        </p:txBody>
      </p:sp>
      <p:sp>
        <p:nvSpPr>
          <p:cNvPr id="7" name="Teks 7"/>
          <p:cNvSpPr txBox="1"/>
          <p:nvPr/>
        </p:nvSpPr>
        <p:spPr>
          <a:xfrm>
            <a:off x="83820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Bagaimana merancang sistemnya?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Bagaimana pengaruhnya terhadap efisiensi waktu?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Sejauh mana profil merek menjaga konsistensi </a:t>
            </a: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brand voice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?</a:t>
            </a:r>
          </a:p>
        </p:txBody>
      </p:sp>
      <p:sp>
        <p:nvSpPr>
          <p:cNvPr id="8" name="Bidang 8"/>
          <p:cNvSpPr/>
          <p:nvPr/>
        </p:nvSpPr>
        <p:spPr>
          <a:xfrm>
            <a:off x="637032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ks 9"/>
          <p:cNvSpPr txBox="1"/>
          <p:nvPr/>
        </p:nvSpPr>
        <p:spPr>
          <a:xfrm>
            <a:off x="637032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Belum ada yang memenuhi keempatnya sekaligus</a:t>
            </a:r>
          </a:p>
        </p:txBody>
      </p:sp>
      <p:sp>
        <p:nvSpPr>
          <p:cNvPr id="10" name="Teks 10"/>
          <p:cNvSpPr txBox="1"/>
          <p:nvPr/>
        </p:nvSpPr>
        <p:spPr>
          <a:xfrm>
            <a:off x="637032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Untuk proses kerja </a:t>
            </a: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nyata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, bukan simulasi;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Multi-agent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 dengan pembagian tugas per modul;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Profil merek terstruktur sebagai konteks;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Diukur dua sisi: waktu dan konsistensi.</a:t>
            </a:r>
          </a:p>
        </p:txBody>
      </p:sp>
      <p:sp>
        <p:nvSpPr>
          <p:cNvPr id="11" name="Bidang 11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ks 12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3" name="Teks 13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Batasan Masalah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 · 1.4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ks 6"/>
          <p:cNvSpPr txBox="1"/>
          <p:nvPr/>
        </p:nvSpPr>
        <p:spPr>
          <a:xfrm>
            <a:off x="83820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Lingkup</a:t>
            </a:r>
          </a:p>
        </p:txBody>
      </p:sp>
      <p:sp>
        <p:nvSpPr>
          <p:cNvPr id="7" name="Teks 7"/>
          <p:cNvSpPr txBox="1"/>
          <p:nvPr/>
        </p:nvSpPr>
        <p:spPr>
          <a:xfrm>
            <a:off x="83820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Satu profil merek aktif.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Status </a:t>
            </a: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prototipe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, masih diuji — belum operasional harian.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Hanya modul produksi konten: ringkasan, naskah, penghalusan.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Pendapatan dan performa media sosial di luar lingkup.</a:t>
            </a:r>
          </a:p>
        </p:txBody>
      </p:sp>
      <p:sp>
        <p:nvSpPr>
          <p:cNvPr id="8" name="Bidang 8"/>
          <p:cNvSpPr/>
          <p:nvPr/>
        </p:nvSpPr>
        <p:spPr>
          <a:xfrm>
            <a:off x="637032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ks 9"/>
          <p:cNvSpPr txBox="1"/>
          <p:nvPr/>
        </p:nvSpPr>
        <p:spPr>
          <a:xfrm>
            <a:off x="637032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Pengukuran</a:t>
            </a:r>
          </a:p>
        </p:txBody>
      </p:sp>
      <p:sp>
        <p:nvSpPr>
          <p:cNvPr id="10" name="Teks 10"/>
          <p:cNvSpPr txBox="1"/>
          <p:nvPr/>
        </p:nvSpPr>
        <p:spPr>
          <a:xfrm>
            <a:off x="637032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Model bahasa = </a:t>
            </a: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kotak hitam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, tidak dievaluasi.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Kontribusi arsitektur </a:t>
            </a: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multi-agent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 tidak diisolasi.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i="1" dirty="0">
                <a:solidFill>
                  <a:srgbClr val="233642"/>
                </a:solidFill>
                <a:latin typeface="Calibri"/>
                <a:cs typeface="Calibri"/>
              </a:rPr>
              <a:t>Brand voice</a:t>
            </a: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 dinilai manusia, bukan pendeteksi otomatis.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00" dirty="0">
                <a:solidFill>
                  <a:srgbClr val="233642"/>
                </a:solidFill>
                <a:latin typeface="Calibri"/>
                <a:cs typeface="Calibri"/>
              </a:rPr>
              <a:t>Durasi lama berupa estimasi — pembandingan deskriptif.</a:t>
            </a:r>
          </a:p>
        </p:txBody>
      </p:sp>
      <p:sp>
        <p:nvSpPr>
          <p:cNvPr id="11" name="Bidang 11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ks 12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3" name="Teks 13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Kerangka Berpikir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 · 2.3</a:t>
            </a:r>
          </a:p>
        </p:txBody>
      </p:sp>
      <p:sp>
        <p:nvSpPr>
          <p:cNvPr id="5" name="Teks 5"/>
          <p:cNvSpPr txBox="1"/>
          <p:nvPr/>
        </p:nvSpPr>
        <p:spPr>
          <a:xfrm>
            <a:off x="838200" y="1508760"/>
            <a:ext cx="5303520" cy="458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i="1" dirty="0">
                <a:solidFill>
                  <a:srgbClr val="233642"/>
                </a:solidFill>
                <a:latin typeface="Calibri"/>
                <a:cs typeface="Calibri"/>
              </a:rPr>
              <a:t>Masalah</a:t>
            </a: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 — waktu panjang, gaya tidak konsisten.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i="1" dirty="0">
                <a:solidFill>
                  <a:srgbClr val="233642"/>
                </a:solidFill>
                <a:latin typeface="Calibri"/>
                <a:cs typeface="Calibri"/>
              </a:rPr>
              <a:t>Tinjauan</a:t>
            </a: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 — teori </a:t>
            </a:r>
            <a:r>
              <a:rPr lang="id-ID" sz="1600" i="1" dirty="0">
                <a:solidFill>
                  <a:srgbClr val="233642"/>
                </a:solidFill>
                <a:latin typeface="Calibri"/>
                <a:cs typeface="Calibri"/>
              </a:rPr>
              <a:t>multi-agent</a:t>
            </a: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 dan konteks terstruktur.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i="1" dirty="0">
                <a:solidFill>
                  <a:srgbClr val="233642"/>
                </a:solidFill>
                <a:latin typeface="Calibri"/>
                <a:cs typeface="Calibri"/>
              </a:rPr>
              <a:t>Rancangan</a:t>
            </a: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 — empat agen, profil merek, pencatatan.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i="1" dirty="0">
                <a:solidFill>
                  <a:srgbClr val="233642"/>
                </a:solidFill>
                <a:latin typeface="Calibri"/>
                <a:cs typeface="Calibri"/>
              </a:rPr>
              <a:t>Pengujian</a:t>
            </a: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 — catat waktu dan rubrik secara buta.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600" i="1" dirty="0">
                <a:solidFill>
                  <a:srgbClr val="233642"/>
                </a:solidFill>
                <a:latin typeface="Calibri"/>
                <a:cs typeface="Calibri"/>
              </a:rPr>
              <a:t>Hasil</a:t>
            </a:r>
            <a:r>
              <a:rPr lang="id-ID" sz="1600" dirty="0">
                <a:solidFill>
                  <a:srgbClr val="233642"/>
                </a:solidFill>
                <a:latin typeface="Calibri"/>
                <a:cs typeface="Calibri"/>
              </a:rPr>
              <a:t> — waktu turun, konsistensi naik.</a:t>
            </a:r>
          </a:p>
        </p:txBody>
      </p:sp>
      <p:sp>
        <p:nvSpPr>
          <p:cNvPr id="6" name="Bidang 6"/>
          <p:cNvSpPr/>
          <p:nvPr/>
        </p:nvSpPr>
        <p:spPr>
          <a:xfrm>
            <a:off x="6598920" y="1508760"/>
            <a:ext cx="4754880" cy="4229100"/>
          </a:xfrm>
          <a:prstGeom prst="rect">
            <a:avLst/>
          </a:prstGeom>
          <a:solidFill>
            <a:srgbClr val="F2F5F7"/>
          </a:solidFill>
          <a:ln w="12700">
            <a:solidFill>
              <a:srgbClr val="6B7A85"/>
            </a:solidFill>
            <a:prstDash val="dash"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6736080" y="1508760"/>
            <a:ext cx="4480560" cy="42291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dirty="0">
                <a:solidFill>
                  <a:srgbClr val="6B7A85"/>
                </a:solidFill>
                <a:latin typeface="Calibri"/>
                <a:cs typeface="Calibri"/>
              </a:rPr>
              <a:t>[ sisipkan Gambar 2.1 ]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6598920" y="5875020"/>
            <a:ext cx="47548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dirty="0">
                <a:solidFill>
                  <a:srgbClr val="6B7A85"/>
                </a:solidFill>
                <a:latin typeface="Calibri"/>
                <a:cs typeface="Calibri"/>
              </a:rPr>
              <a:t>Gambar 2.1</a:t>
            </a:r>
          </a:p>
        </p:txBody>
      </p:sp>
      <p:sp>
        <p:nvSpPr>
          <p:cNvPr id="9" name="Bidang 9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1" name="Teks 11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Arsitektur Sistem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3.1.3</a:t>
            </a:r>
          </a:p>
        </p:txBody>
      </p:sp>
      <p:sp>
        <p:nvSpPr>
          <p:cNvPr id="5" name="Teks 5"/>
          <p:cNvSpPr txBox="1"/>
          <p:nvPr/>
        </p:nvSpPr>
        <p:spPr>
          <a:xfrm>
            <a:off x="838200" y="1508760"/>
            <a:ext cx="5303520" cy="458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50" i="1" dirty="0">
                <a:solidFill>
                  <a:srgbClr val="233642"/>
                </a:solidFill>
                <a:latin typeface="Calibri"/>
                <a:cs typeface="Calibri"/>
              </a:rPr>
              <a:t>Antarmuka web</a:t>
            </a:r>
            <a:r>
              <a:rPr lang="id-ID" sz="1550" dirty="0">
                <a:solidFill>
                  <a:srgbClr val="233642"/>
                </a:solidFill>
                <a:latin typeface="Calibri"/>
                <a:cs typeface="Calibri"/>
              </a:rPr>
              <a:t> — tidak pernah menyentuh gerbang agen maupun basis data.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50" i="1" dirty="0">
                <a:solidFill>
                  <a:srgbClr val="233642"/>
                </a:solidFill>
                <a:latin typeface="Calibri"/>
                <a:cs typeface="Calibri"/>
              </a:rPr>
              <a:t>Layanan backend</a:t>
            </a:r>
            <a:r>
              <a:rPr lang="id-ID" sz="1550" dirty="0">
                <a:solidFill>
                  <a:srgbClr val="233642"/>
                </a:solidFill>
                <a:latin typeface="Calibri"/>
                <a:cs typeface="Calibri"/>
              </a:rPr>
              <a:t> — satu-satunya pintu ke basis data dan seluruh layanan luar.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550" i="1" dirty="0">
                <a:solidFill>
                  <a:srgbClr val="233642"/>
                </a:solidFill>
                <a:latin typeface="Calibri"/>
                <a:cs typeface="Calibri"/>
              </a:rPr>
              <a:t>Gerbang agen</a:t>
            </a:r>
            <a:r>
              <a:rPr lang="id-ID" sz="1550" dirty="0">
                <a:solidFill>
                  <a:srgbClr val="233642"/>
                </a:solidFill>
                <a:latin typeface="Calibri"/>
                <a:cs typeface="Calibri"/>
              </a:rPr>
              <a:t> — menaungi empat agen dengan tugas berbeda.</a:t>
            </a:r>
          </a:p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550" b="1" dirty="0">
                <a:solidFill>
                  <a:srgbClr val="12324F"/>
                </a:solidFill>
                <a:latin typeface="Calibri"/>
                <a:cs typeface="Calibri"/>
              </a:rPr>
              <a:t>Sistem lama</a:t>
            </a:r>
          </a:p>
          <a:p>
            <a:pPr marL="628650" indent="-228600" algn="l">
              <a:lnSpc>
                <a:spcPct val="102000"/>
              </a:lnSpc>
              <a:spcBef>
                <a:spcPts val="600"/>
              </a:spcBef>
              <a:buClr>
                <a:srgbClr val="6B7A85"/>
              </a:buClr>
              <a:buFont typeface="Arial"/>
              <a:buChar char="–"/>
            </a:pPr>
            <a:r>
              <a:rPr lang="id-ID" sz="1550" dirty="0">
                <a:solidFill>
                  <a:srgbClr val="6B7A85"/>
                </a:solidFill>
                <a:latin typeface="Calibri"/>
                <a:cs typeface="Calibri"/>
              </a:rPr>
              <a:t>Seluruhnya manual. AI sudah dipakai, tetapi lepas-lepas lewat antarmuka percakapan umum, tanpa acuan bersama dan tanpa pencatatan (Gambar 3.1).</a:t>
            </a:r>
          </a:p>
        </p:txBody>
      </p:sp>
      <p:sp>
        <p:nvSpPr>
          <p:cNvPr id="6" name="Bidang 6"/>
          <p:cNvSpPr/>
          <p:nvPr/>
        </p:nvSpPr>
        <p:spPr>
          <a:xfrm>
            <a:off x="6598920" y="1508760"/>
            <a:ext cx="4754880" cy="4229100"/>
          </a:xfrm>
          <a:prstGeom prst="rect">
            <a:avLst/>
          </a:prstGeom>
          <a:solidFill>
            <a:srgbClr val="F2F5F7"/>
          </a:solidFill>
          <a:ln w="12700">
            <a:solidFill>
              <a:srgbClr val="6B7A85"/>
            </a:solidFill>
            <a:prstDash val="dash"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6736080" y="1508760"/>
            <a:ext cx="4480560" cy="42291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dirty="0">
                <a:solidFill>
                  <a:srgbClr val="6B7A85"/>
                </a:solidFill>
                <a:latin typeface="Calibri"/>
                <a:cs typeface="Calibri"/>
              </a:rPr>
              <a:t>[ sisipkan Gambar 3.2 ]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6598920" y="5875020"/>
            <a:ext cx="47548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dirty="0">
                <a:solidFill>
                  <a:srgbClr val="6B7A85"/>
                </a:solidFill>
                <a:latin typeface="Calibri"/>
                <a:cs typeface="Calibri"/>
              </a:rPr>
              <a:t>Gambar 3.2</a:t>
            </a:r>
          </a:p>
        </p:txBody>
      </p:sp>
      <p:sp>
        <p:nvSpPr>
          <p:cNvPr id="9" name="Bidang 9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1" name="Teks 11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Gerbang Agen — Satu Model, Empat Ruang Kerja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3.1.3 · OpenClaw Gateway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2423160" cy="23774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Bidang 6"/>
          <p:cNvSpPr/>
          <p:nvPr/>
        </p:nvSpPr>
        <p:spPr>
          <a:xfrm>
            <a:off x="838200" y="1508760"/>
            <a:ext cx="41148" cy="23774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1066800" y="1691640"/>
            <a:ext cx="2011680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12324F"/>
                </a:solidFill>
                <a:latin typeface="Calibri"/>
                <a:cs typeface="Calibri"/>
              </a:rPr>
              <a:t>Penyusun ringkasan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Merumuskan sudut pandang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dan arahan visual.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Keluaran: konsep, prompt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gambar, atau brief teks.</a:t>
            </a:r>
          </a:p>
        </p:txBody>
      </p:sp>
      <p:sp>
        <p:nvSpPr>
          <p:cNvPr id="8" name="Bidang 8"/>
          <p:cNvSpPr/>
          <p:nvPr/>
        </p:nvSpPr>
        <p:spPr>
          <a:xfrm>
            <a:off x="3535680" y="1508760"/>
            <a:ext cx="2423160" cy="23774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Bidang 9"/>
          <p:cNvSpPr/>
          <p:nvPr/>
        </p:nvSpPr>
        <p:spPr>
          <a:xfrm>
            <a:off x="3535680" y="1508760"/>
            <a:ext cx="41148" cy="23774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3764280" y="1691640"/>
            <a:ext cx="2011680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12324F"/>
                </a:solidFill>
                <a:latin typeface="Calibri"/>
                <a:cs typeface="Calibri"/>
              </a:rPr>
              <a:t>Penulis naskah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Menyusun naskah unggahan: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kalimat pembuka, isi,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ajakan bertindak, tagar.</a:t>
            </a:r>
          </a:p>
        </p:txBody>
      </p:sp>
      <p:sp>
        <p:nvSpPr>
          <p:cNvPr id="11" name="Bidang 11"/>
          <p:cNvSpPr/>
          <p:nvPr/>
        </p:nvSpPr>
        <p:spPr>
          <a:xfrm>
            <a:off x="6233160" y="1508760"/>
            <a:ext cx="2423160" cy="23774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Bidang 12"/>
          <p:cNvSpPr/>
          <p:nvPr/>
        </p:nvSpPr>
        <p:spPr>
          <a:xfrm>
            <a:off x="6233160" y="1508760"/>
            <a:ext cx="41148" cy="23774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ks 13"/>
          <p:cNvSpPr txBox="1"/>
          <p:nvPr/>
        </p:nvSpPr>
        <p:spPr>
          <a:xfrm>
            <a:off x="6461760" y="1691640"/>
            <a:ext cx="2011680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12324F"/>
                </a:solidFill>
                <a:latin typeface="Calibri"/>
                <a:cs typeface="Calibri"/>
              </a:rPr>
              <a:t>Penghalus teks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Membuang nada robotik.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Dipanggil sebagai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tahap akhir.</a:t>
            </a:r>
          </a:p>
        </p:txBody>
      </p:sp>
      <p:sp>
        <p:nvSpPr>
          <p:cNvPr id="14" name="Bidang 14"/>
          <p:cNvSpPr/>
          <p:nvPr/>
        </p:nvSpPr>
        <p:spPr>
          <a:xfrm>
            <a:off x="8930640" y="1508760"/>
            <a:ext cx="2423160" cy="23774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Bidang 15"/>
          <p:cNvSpPr/>
          <p:nvPr/>
        </p:nvSpPr>
        <p:spPr>
          <a:xfrm>
            <a:off x="8930640" y="1508760"/>
            <a:ext cx="41148" cy="23774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ks 16"/>
          <p:cNvSpPr txBox="1"/>
          <p:nvPr/>
        </p:nvSpPr>
        <p:spPr>
          <a:xfrm>
            <a:off x="9159240" y="1691640"/>
            <a:ext cx="2011680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12324F"/>
                </a:solidFill>
                <a:latin typeface="Calibri"/>
                <a:cs typeface="Calibri"/>
              </a:rPr>
              <a:t>Penyusun iklan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Menghasilkan varian naskah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iklan: kail, judul,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dan teks utama.</a:t>
            </a:r>
          </a:p>
        </p:txBody>
      </p:sp>
      <p:sp>
        <p:nvSpPr>
          <p:cNvPr id="17" name="Teks 17"/>
          <p:cNvSpPr txBox="1"/>
          <p:nvPr/>
        </p:nvSpPr>
        <p:spPr>
          <a:xfrm>
            <a:off x="838200" y="4206240"/>
            <a:ext cx="10515600" cy="9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Keempatnya memakai </a:t>
            </a:r>
            <a:r>
              <a:rPr lang="id-ID" sz="1400" i="1" dirty="0">
                <a:solidFill>
                  <a:srgbClr val="233642"/>
                </a:solidFill>
                <a:latin typeface="Calibri"/>
                <a:cs typeface="Calibri"/>
              </a:rPr>
              <a:t>model bahasa yang sama</a:t>
            </a: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. Yang membedakan adalah ruang kerjanya — tiap agen punya berkas aturan, pengetahuan merek, dan contoh naskah sendiri.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Jadi pembagian tugas per modul berarti pembagian </a:t>
            </a:r>
            <a:r>
              <a:rPr lang="id-ID" sz="1400" i="1" dirty="0">
                <a:solidFill>
                  <a:srgbClr val="233642"/>
                </a:solidFill>
                <a:latin typeface="Calibri"/>
                <a:cs typeface="Calibri"/>
              </a:rPr>
              <a:t>instruksi dan pengetahuan</a:t>
            </a: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, bukan pembagian model.</a:t>
            </a:r>
          </a:p>
        </p:txBody>
      </p:sp>
      <p:sp>
        <p:nvSpPr>
          <p:cNvPr id="18" name="Bidang 18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ks 19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20" name="Teks 20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Alur Satu Permintaan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3.1.3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783080"/>
            <a:ext cx="1920240" cy="21945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Bidang 6"/>
          <p:cNvSpPr/>
          <p:nvPr/>
        </p:nvSpPr>
        <p:spPr>
          <a:xfrm>
            <a:off x="838200" y="1554480"/>
            <a:ext cx="457200" cy="457200"/>
          </a:xfrm>
          <a:prstGeom prst="rect">
            <a:avLst/>
          </a:prstGeom>
          <a:solidFill>
            <a:srgbClr val="12324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838200" y="15544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1021080" y="2103120"/>
            <a:ext cx="1554480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dirty="0">
                <a:solidFill>
                  <a:srgbClr val="12324F"/>
                </a:solidFill>
                <a:latin typeface="Calibri"/>
                <a:cs typeface="Calibri"/>
              </a:rPr>
              <a:t>Antarmuka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Pengguna mengirim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data produk.</a:t>
            </a:r>
          </a:p>
        </p:txBody>
      </p:sp>
      <p:sp>
        <p:nvSpPr>
          <p:cNvPr id="9" name="Teks 9"/>
          <p:cNvSpPr txBox="1"/>
          <p:nvPr/>
        </p:nvSpPr>
        <p:spPr>
          <a:xfrm>
            <a:off x="2758440" y="265176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800" b="1" dirty="0">
                <a:solidFill>
                  <a:srgbClr val="E4572E"/>
                </a:solidFill>
                <a:latin typeface="Calibri"/>
                <a:cs typeface="Calibri"/>
              </a:rPr>
              <a:t>›</a:t>
            </a:r>
          </a:p>
        </p:txBody>
      </p:sp>
      <p:sp>
        <p:nvSpPr>
          <p:cNvPr id="10" name="Bidang 10"/>
          <p:cNvSpPr/>
          <p:nvPr/>
        </p:nvSpPr>
        <p:spPr>
          <a:xfrm>
            <a:off x="2987040" y="1783080"/>
            <a:ext cx="1920240" cy="21945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idang 11"/>
          <p:cNvSpPr/>
          <p:nvPr/>
        </p:nvSpPr>
        <p:spPr>
          <a:xfrm>
            <a:off x="2987040" y="1554480"/>
            <a:ext cx="457200" cy="457200"/>
          </a:xfrm>
          <a:prstGeom prst="rect">
            <a:avLst/>
          </a:prstGeom>
          <a:solidFill>
            <a:srgbClr val="12324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ks 12"/>
          <p:cNvSpPr txBox="1"/>
          <p:nvPr/>
        </p:nvSpPr>
        <p:spPr>
          <a:xfrm>
            <a:off x="2987040" y="15544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13" name="Teks 13"/>
          <p:cNvSpPr txBox="1"/>
          <p:nvPr/>
        </p:nvSpPr>
        <p:spPr>
          <a:xfrm>
            <a:off x="3169920" y="2103120"/>
            <a:ext cx="1554480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dirty="0">
                <a:solidFill>
                  <a:srgbClr val="12324F"/>
                </a:solidFill>
                <a:latin typeface="Calibri"/>
                <a:cs typeface="Calibri"/>
              </a:rPr>
              <a:t>Ambil profil merek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Backend membaca profil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merek dari basis data.</a:t>
            </a:r>
          </a:p>
        </p:txBody>
      </p:sp>
      <p:sp>
        <p:nvSpPr>
          <p:cNvPr id="14" name="Teks 14"/>
          <p:cNvSpPr txBox="1"/>
          <p:nvPr/>
        </p:nvSpPr>
        <p:spPr>
          <a:xfrm>
            <a:off x="4907280" y="265176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800" b="1" dirty="0">
                <a:solidFill>
                  <a:srgbClr val="E4572E"/>
                </a:solidFill>
                <a:latin typeface="Calibri"/>
                <a:cs typeface="Calibri"/>
              </a:rPr>
              <a:t>›</a:t>
            </a:r>
          </a:p>
        </p:txBody>
      </p:sp>
      <p:sp>
        <p:nvSpPr>
          <p:cNvPr id="15" name="Bidang 15"/>
          <p:cNvSpPr/>
          <p:nvPr/>
        </p:nvSpPr>
        <p:spPr>
          <a:xfrm>
            <a:off x="5135880" y="1783080"/>
            <a:ext cx="1920240" cy="21945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Bidang 16"/>
          <p:cNvSpPr/>
          <p:nvPr/>
        </p:nvSpPr>
        <p:spPr>
          <a:xfrm>
            <a:off x="5135880" y="1554480"/>
            <a:ext cx="457200" cy="457200"/>
          </a:xfrm>
          <a:prstGeom prst="rect">
            <a:avLst/>
          </a:prstGeom>
          <a:solidFill>
            <a:srgbClr val="12324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ks 17"/>
          <p:cNvSpPr txBox="1"/>
          <p:nvPr/>
        </p:nvSpPr>
        <p:spPr>
          <a:xfrm>
            <a:off x="5135880" y="15544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8" name="Teks 18"/>
          <p:cNvSpPr txBox="1"/>
          <p:nvPr/>
        </p:nvSpPr>
        <p:spPr>
          <a:xfrm>
            <a:off x="5318760" y="2103120"/>
            <a:ext cx="1554480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dirty="0">
                <a:solidFill>
                  <a:srgbClr val="12324F"/>
                </a:solidFill>
                <a:latin typeface="Calibri"/>
                <a:cs typeface="Calibri"/>
              </a:rPr>
              <a:t>Pemicu tipis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Nama tugas + data,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tanpa perintah panjang.</a:t>
            </a:r>
          </a:p>
        </p:txBody>
      </p:sp>
      <p:sp>
        <p:nvSpPr>
          <p:cNvPr id="19" name="Teks 19"/>
          <p:cNvSpPr txBox="1"/>
          <p:nvPr/>
        </p:nvSpPr>
        <p:spPr>
          <a:xfrm>
            <a:off x="7056120" y="265176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800" b="1" dirty="0">
                <a:solidFill>
                  <a:srgbClr val="E4572E"/>
                </a:solidFill>
                <a:latin typeface="Calibri"/>
                <a:cs typeface="Calibri"/>
              </a:rPr>
              <a:t>›</a:t>
            </a:r>
          </a:p>
        </p:txBody>
      </p:sp>
      <p:sp>
        <p:nvSpPr>
          <p:cNvPr id="20" name="Bidang 20"/>
          <p:cNvSpPr/>
          <p:nvPr/>
        </p:nvSpPr>
        <p:spPr>
          <a:xfrm>
            <a:off x="7284720" y="1783080"/>
            <a:ext cx="1920240" cy="21945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Bidang 21"/>
          <p:cNvSpPr/>
          <p:nvPr/>
        </p:nvSpPr>
        <p:spPr>
          <a:xfrm>
            <a:off x="7284720" y="1554480"/>
            <a:ext cx="457200" cy="457200"/>
          </a:xfrm>
          <a:prstGeom prst="rect">
            <a:avLst/>
          </a:prstGeom>
          <a:solidFill>
            <a:srgbClr val="12324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ks 22"/>
          <p:cNvSpPr txBox="1"/>
          <p:nvPr/>
        </p:nvSpPr>
        <p:spPr>
          <a:xfrm>
            <a:off x="7284720" y="15544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23" name="Teks 23"/>
          <p:cNvSpPr txBox="1"/>
          <p:nvPr/>
        </p:nvSpPr>
        <p:spPr>
          <a:xfrm>
            <a:off x="7467600" y="2103120"/>
            <a:ext cx="1554480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dirty="0">
                <a:solidFill>
                  <a:srgbClr val="12324F"/>
                </a:solidFill>
                <a:latin typeface="Calibri"/>
                <a:cs typeface="Calibri"/>
              </a:rPr>
              <a:t>Agen menjawab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Agen membaca aturannya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sendiri, lalu membalas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dalam format baku.</a:t>
            </a:r>
          </a:p>
        </p:txBody>
      </p:sp>
      <p:sp>
        <p:nvSpPr>
          <p:cNvPr id="24" name="Teks 24"/>
          <p:cNvSpPr txBox="1"/>
          <p:nvPr/>
        </p:nvSpPr>
        <p:spPr>
          <a:xfrm>
            <a:off x="9204960" y="265176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800" b="1" dirty="0">
                <a:solidFill>
                  <a:srgbClr val="E4572E"/>
                </a:solidFill>
                <a:latin typeface="Calibri"/>
                <a:cs typeface="Calibri"/>
              </a:rPr>
              <a:t>›</a:t>
            </a:r>
          </a:p>
        </p:txBody>
      </p:sp>
      <p:sp>
        <p:nvSpPr>
          <p:cNvPr id="25" name="Bidang 25"/>
          <p:cNvSpPr/>
          <p:nvPr/>
        </p:nvSpPr>
        <p:spPr>
          <a:xfrm>
            <a:off x="9433560" y="1783080"/>
            <a:ext cx="1920240" cy="21945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Bidang 26"/>
          <p:cNvSpPr/>
          <p:nvPr/>
        </p:nvSpPr>
        <p:spPr>
          <a:xfrm>
            <a:off x="9433560" y="1554480"/>
            <a:ext cx="457200" cy="457200"/>
          </a:xfrm>
          <a:prstGeom prst="rect">
            <a:avLst/>
          </a:prstGeom>
          <a:solidFill>
            <a:srgbClr val="12324F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ks 27"/>
          <p:cNvSpPr txBox="1"/>
          <p:nvPr/>
        </p:nvSpPr>
        <p:spPr>
          <a:xfrm>
            <a:off x="9433560" y="15544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28" name="Teks 28"/>
          <p:cNvSpPr txBox="1"/>
          <p:nvPr/>
        </p:nvSpPr>
        <p:spPr>
          <a:xfrm>
            <a:off x="9616440" y="2103120"/>
            <a:ext cx="1554480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dirty="0">
                <a:solidFill>
                  <a:srgbClr val="12324F"/>
                </a:solidFill>
                <a:latin typeface="Calibri"/>
                <a:cs typeface="Calibri"/>
              </a:rPr>
              <a:t>Haluskan dan catat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Nada dirapikan,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seluruhnya dicatat.</a:t>
            </a:r>
          </a:p>
        </p:txBody>
      </p:sp>
      <p:sp>
        <p:nvSpPr>
          <p:cNvPr id="29" name="Teks 29"/>
          <p:cNvSpPr txBox="1"/>
          <p:nvPr/>
        </p:nvSpPr>
        <p:spPr>
          <a:xfrm>
            <a:off x="838200" y="434340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Perintah panjangnya ada pada agen, bukan pada backend — sehingga dapat diperbaiki tanpa mengubah kode.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Tiap panggilan memakai sesi baru: bersih dari riwayat, selalu membaca aturan terbaru, dan aman dijalankan bersamaan.</a:t>
            </a:r>
          </a:p>
        </p:txBody>
      </p:sp>
      <p:sp>
        <p:nvSpPr>
          <p:cNvPr id="30" name="Bidang 30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ks 31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32" name="Teks 32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Kunci: Kenapa Keluarannya Tidak Generik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3.1.3 · pembeda penelitian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3322320" cy="23774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Bidang 6"/>
          <p:cNvSpPr/>
          <p:nvPr/>
        </p:nvSpPr>
        <p:spPr>
          <a:xfrm>
            <a:off x="838200" y="1508760"/>
            <a:ext cx="41148" cy="23774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1066800" y="1691640"/>
            <a:ext cx="2910840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50" b="1" dirty="0">
                <a:solidFill>
                  <a:srgbClr val="12324F"/>
                </a:solidFill>
                <a:latin typeface="Calibri"/>
                <a:cs typeface="Calibri"/>
              </a:rPr>
              <a:t>Konteks dari basis data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50" dirty="0">
                <a:solidFill>
                  <a:srgbClr val="233642"/>
                </a:solidFill>
                <a:latin typeface="Calibri"/>
                <a:cs typeface="Calibri"/>
              </a:rPr>
              <a:t>Profil merek dibaca dari tabel,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50" dirty="0">
                <a:solidFill>
                  <a:srgbClr val="233642"/>
                </a:solidFill>
                <a:latin typeface="Calibri"/>
                <a:cs typeface="Calibri"/>
              </a:rPr>
              <a:t>bukan ditulis di dalam kode.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50" dirty="0">
                <a:solidFill>
                  <a:srgbClr val="233642"/>
                </a:solidFill>
                <a:latin typeface="Calibri"/>
                <a:cs typeface="Calibri"/>
              </a:rPr>
              <a:t>Gaya bahasa, audiens, keunggulan,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50" dirty="0">
                <a:solidFill>
                  <a:srgbClr val="233642"/>
                </a:solidFill>
                <a:latin typeface="Calibri"/>
                <a:cs typeface="Calibri"/>
              </a:rPr>
              <a:t>batasan, ajakan, contoh naskah.</a:t>
            </a:r>
          </a:p>
        </p:txBody>
      </p:sp>
      <p:sp>
        <p:nvSpPr>
          <p:cNvPr id="8" name="Bidang 8"/>
          <p:cNvSpPr/>
          <p:nvPr/>
        </p:nvSpPr>
        <p:spPr>
          <a:xfrm>
            <a:off x="4434840" y="1508760"/>
            <a:ext cx="3322320" cy="23774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Bidang 9"/>
          <p:cNvSpPr/>
          <p:nvPr/>
        </p:nvSpPr>
        <p:spPr>
          <a:xfrm>
            <a:off x="4434840" y="1508760"/>
            <a:ext cx="41148" cy="23774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4663440" y="1691640"/>
            <a:ext cx="2910840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50" b="1" dirty="0">
                <a:solidFill>
                  <a:srgbClr val="12324F"/>
                </a:solidFill>
                <a:latin typeface="Calibri"/>
                <a:cs typeface="Calibri"/>
              </a:rPr>
              <a:t>Aturan anti-jiplak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50" dirty="0">
                <a:solidFill>
                  <a:srgbClr val="233642"/>
                </a:solidFill>
                <a:latin typeface="Calibri"/>
                <a:cs typeface="Calibri"/>
              </a:rPr>
              <a:t>Pengetahuan merek hanya boleh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50" dirty="0">
                <a:solidFill>
                  <a:srgbClr val="233642"/>
                </a:solidFill>
                <a:latin typeface="Calibri"/>
                <a:cs typeface="Calibri"/>
              </a:rPr>
              <a:t>jadi rujukan latar.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50" dirty="0">
                <a:solidFill>
                  <a:srgbClr val="233642"/>
                </a:solidFill>
                <a:latin typeface="Calibri"/>
                <a:cs typeface="Calibri"/>
              </a:rPr>
              <a:t>Faktanya boleh dipakai,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50" dirty="0">
                <a:solidFill>
                  <a:srgbClr val="233642"/>
                </a:solidFill>
                <a:latin typeface="Calibri"/>
                <a:cs typeface="Calibri"/>
              </a:rPr>
              <a:t>kalimatnya tidak.</a:t>
            </a:r>
          </a:p>
        </p:txBody>
      </p:sp>
      <p:sp>
        <p:nvSpPr>
          <p:cNvPr id="11" name="Bidang 11"/>
          <p:cNvSpPr/>
          <p:nvPr/>
        </p:nvSpPr>
        <p:spPr>
          <a:xfrm>
            <a:off x="8031480" y="1508760"/>
            <a:ext cx="3322320" cy="23774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Bidang 12"/>
          <p:cNvSpPr/>
          <p:nvPr/>
        </p:nvSpPr>
        <p:spPr>
          <a:xfrm>
            <a:off x="8031480" y="1508760"/>
            <a:ext cx="41148" cy="23774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ks 13"/>
          <p:cNvSpPr txBox="1"/>
          <p:nvPr/>
        </p:nvSpPr>
        <p:spPr>
          <a:xfrm>
            <a:off x="8260080" y="1691640"/>
            <a:ext cx="2910840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50" b="1" dirty="0">
                <a:solidFill>
                  <a:srgbClr val="12324F"/>
                </a:solidFill>
                <a:latin typeface="Calibri"/>
                <a:cs typeface="Calibri"/>
              </a:rPr>
              <a:t>Aturan anti-nada mesin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50" dirty="0">
                <a:solidFill>
                  <a:srgbClr val="233642"/>
                </a:solidFill>
                <a:latin typeface="Calibri"/>
                <a:cs typeface="Calibri"/>
              </a:rPr>
              <a:t>Klise dan kata korporat dilarang.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50" dirty="0">
                <a:solidFill>
                  <a:srgbClr val="233642"/>
                </a:solidFill>
                <a:latin typeface="Calibri"/>
                <a:cs typeface="Calibri"/>
              </a:rPr>
              <a:t>Panjang kalimat wajib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50" dirty="0">
                <a:solidFill>
                  <a:srgbClr val="233642"/>
                </a:solidFill>
                <a:latin typeface="Calibri"/>
                <a:cs typeface="Calibri"/>
              </a:rPr>
              <a:t>divariasikan.</a:t>
            </a:r>
          </a:p>
        </p:txBody>
      </p:sp>
      <p:sp>
        <p:nvSpPr>
          <p:cNvPr id="14" name="Teks 14"/>
          <p:cNvSpPr txBox="1"/>
          <p:nvPr/>
        </p:nvSpPr>
        <p:spPr>
          <a:xfrm>
            <a:off x="838200" y="4206240"/>
            <a:ext cx="10515600" cy="9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Kelima dimensi rubrik penilaian diturunkan dari bidang profil merek yang sama — jadi yang dinilai memang yang dipakai.</a:t>
            </a:r>
          </a:p>
        </p:txBody>
      </p:sp>
      <p:sp>
        <p:nvSpPr>
          <p:cNvPr id="15" name="Bidang 15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ks 16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7" name="Teks 17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Dari Naskah ke Gambar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di luar lingkup penilaian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783080"/>
            <a:ext cx="2457450" cy="21945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Bidang 6"/>
          <p:cNvSpPr/>
          <p:nvPr/>
        </p:nvSpPr>
        <p:spPr>
          <a:xfrm>
            <a:off x="838200" y="1554480"/>
            <a:ext cx="457200" cy="457200"/>
          </a:xfrm>
          <a:prstGeom prst="rect">
            <a:avLst/>
          </a:prstGeom>
          <a:solidFill>
            <a:srgbClr val="12324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838200" y="15544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1021080" y="2103120"/>
            <a:ext cx="2091690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dirty="0">
                <a:solidFill>
                  <a:srgbClr val="12324F"/>
                </a:solidFill>
                <a:latin typeface="Calibri"/>
                <a:cs typeface="Calibri"/>
              </a:rPr>
              <a:t>Arahan visual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Agen penyusun ringkasan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menghasilkan prompt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gambar dan rasio.</a:t>
            </a:r>
          </a:p>
        </p:txBody>
      </p:sp>
      <p:sp>
        <p:nvSpPr>
          <p:cNvPr id="9" name="Teks 9"/>
          <p:cNvSpPr txBox="1"/>
          <p:nvPr/>
        </p:nvSpPr>
        <p:spPr>
          <a:xfrm>
            <a:off x="3295650" y="265176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800" b="1" dirty="0">
                <a:solidFill>
                  <a:srgbClr val="E4572E"/>
                </a:solidFill>
                <a:latin typeface="Calibri"/>
                <a:cs typeface="Calibri"/>
              </a:rPr>
              <a:t>›</a:t>
            </a:r>
          </a:p>
        </p:txBody>
      </p:sp>
      <p:sp>
        <p:nvSpPr>
          <p:cNvPr id="10" name="Bidang 10"/>
          <p:cNvSpPr/>
          <p:nvPr/>
        </p:nvSpPr>
        <p:spPr>
          <a:xfrm>
            <a:off x="3524250" y="1783080"/>
            <a:ext cx="2457450" cy="21945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idang 11"/>
          <p:cNvSpPr/>
          <p:nvPr/>
        </p:nvSpPr>
        <p:spPr>
          <a:xfrm>
            <a:off x="3524250" y="1554480"/>
            <a:ext cx="457200" cy="457200"/>
          </a:xfrm>
          <a:prstGeom prst="rect">
            <a:avLst/>
          </a:prstGeom>
          <a:solidFill>
            <a:srgbClr val="12324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ks 12"/>
          <p:cNvSpPr txBox="1"/>
          <p:nvPr/>
        </p:nvSpPr>
        <p:spPr>
          <a:xfrm>
            <a:off x="3524250" y="15544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13" name="Teks 13"/>
          <p:cNvSpPr txBox="1"/>
          <p:nvPr/>
        </p:nvSpPr>
        <p:spPr>
          <a:xfrm>
            <a:off x="3707130" y="2103120"/>
            <a:ext cx="2091690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dirty="0">
                <a:solidFill>
                  <a:srgbClr val="12324F"/>
                </a:solidFill>
                <a:latin typeface="Calibri"/>
                <a:cs typeface="Calibri"/>
              </a:rPr>
              <a:t>Kirim tugas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Backend mengirimnya ke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layanan gambar, menerima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nomor tugas.</a:t>
            </a:r>
          </a:p>
        </p:txBody>
      </p:sp>
      <p:sp>
        <p:nvSpPr>
          <p:cNvPr id="14" name="Teks 14"/>
          <p:cNvSpPr txBox="1"/>
          <p:nvPr/>
        </p:nvSpPr>
        <p:spPr>
          <a:xfrm>
            <a:off x="5981700" y="265176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800" b="1" dirty="0">
                <a:solidFill>
                  <a:srgbClr val="E4572E"/>
                </a:solidFill>
                <a:latin typeface="Calibri"/>
                <a:cs typeface="Calibri"/>
              </a:rPr>
              <a:t>›</a:t>
            </a:r>
          </a:p>
        </p:txBody>
      </p:sp>
      <p:sp>
        <p:nvSpPr>
          <p:cNvPr id="15" name="Bidang 15"/>
          <p:cNvSpPr/>
          <p:nvPr/>
        </p:nvSpPr>
        <p:spPr>
          <a:xfrm>
            <a:off x="6210300" y="1783080"/>
            <a:ext cx="2457450" cy="21945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Bidang 16"/>
          <p:cNvSpPr/>
          <p:nvPr/>
        </p:nvSpPr>
        <p:spPr>
          <a:xfrm>
            <a:off x="6210300" y="1554480"/>
            <a:ext cx="457200" cy="457200"/>
          </a:xfrm>
          <a:prstGeom prst="rect">
            <a:avLst/>
          </a:prstGeom>
          <a:solidFill>
            <a:srgbClr val="12324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ks 17"/>
          <p:cNvSpPr txBox="1"/>
          <p:nvPr/>
        </p:nvSpPr>
        <p:spPr>
          <a:xfrm>
            <a:off x="6210300" y="15544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8" name="Teks 18"/>
          <p:cNvSpPr txBox="1"/>
          <p:nvPr/>
        </p:nvSpPr>
        <p:spPr>
          <a:xfrm>
            <a:off x="6393180" y="2103120"/>
            <a:ext cx="2091690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dirty="0">
                <a:solidFill>
                  <a:srgbClr val="12324F"/>
                </a:solidFill>
                <a:latin typeface="Calibri"/>
                <a:cs typeface="Calibri"/>
              </a:rPr>
              <a:t>Kabar balik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Layanan memanggil balik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saat selesai; ada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pemeriksa cadangan.</a:t>
            </a:r>
          </a:p>
        </p:txBody>
      </p:sp>
      <p:sp>
        <p:nvSpPr>
          <p:cNvPr id="19" name="Teks 19"/>
          <p:cNvSpPr txBox="1"/>
          <p:nvPr/>
        </p:nvSpPr>
        <p:spPr>
          <a:xfrm>
            <a:off x="8667750" y="265176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800" b="1" dirty="0">
                <a:solidFill>
                  <a:srgbClr val="E4572E"/>
                </a:solidFill>
                <a:latin typeface="Calibri"/>
                <a:cs typeface="Calibri"/>
              </a:rPr>
              <a:t>›</a:t>
            </a:r>
          </a:p>
        </p:txBody>
      </p:sp>
      <p:sp>
        <p:nvSpPr>
          <p:cNvPr id="20" name="Bidang 20"/>
          <p:cNvSpPr/>
          <p:nvPr/>
        </p:nvSpPr>
        <p:spPr>
          <a:xfrm>
            <a:off x="8896350" y="1783080"/>
            <a:ext cx="2457450" cy="219456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Bidang 21"/>
          <p:cNvSpPr/>
          <p:nvPr/>
        </p:nvSpPr>
        <p:spPr>
          <a:xfrm>
            <a:off x="8896350" y="1554480"/>
            <a:ext cx="457200" cy="457200"/>
          </a:xfrm>
          <a:prstGeom prst="rect">
            <a:avLst/>
          </a:prstGeom>
          <a:solidFill>
            <a:srgbClr val="12324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ks 22"/>
          <p:cNvSpPr txBox="1"/>
          <p:nvPr/>
        </p:nvSpPr>
        <p:spPr>
          <a:xfrm>
            <a:off x="8896350" y="15544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23" name="Teks 23"/>
          <p:cNvSpPr txBox="1"/>
          <p:nvPr/>
        </p:nvSpPr>
        <p:spPr>
          <a:xfrm>
            <a:off x="9079230" y="2103120"/>
            <a:ext cx="2091690" cy="1691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dirty="0">
                <a:solidFill>
                  <a:srgbClr val="12324F"/>
                </a:solidFill>
                <a:latin typeface="Calibri"/>
                <a:cs typeface="Calibri"/>
              </a:rPr>
              <a:t>Tersimpan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Gambar tertaut ke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ringkasan yang</a:t>
            </a:r>
          </a:p>
          <a:p>
            <a:pPr marL="0" indent="0" algn="l">
              <a:lnSpc>
                <a:spcPct val="102000"/>
              </a:lnSpc>
              <a:spcBef>
                <a:spcPts val="220"/>
              </a:spcBef>
              <a:buNone/>
            </a:pPr>
            <a:r>
              <a:rPr lang="id-ID" sz="1150" dirty="0">
                <a:solidFill>
                  <a:srgbClr val="233642"/>
                </a:solidFill>
                <a:latin typeface="Calibri"/>
                <a:cs typeface="Calibri"/>
              </a:rPr>
              <a:t>menghasilkannya.</a:t>
            </a:r>
          </a:p>
        </p:txBody>
      </p:sp>
      <p:sp>
        <p:nvSpPr>
          <p:cNvPr id="24" name="Teks 24"/>
          <p:cNvSpPr txBox="1"/>
          <p:nvPr/>
        </p:nvSpPr>
        <p:spPr>
          <a:xfrm>
            <a:off x="838200" y="434340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Rasio yang dihasilkan agen dipakai apa adanya — tidak perlu diterjemahkan, karena keduanya memakai daftar yang sama.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00" i="1" dirty="0">
                <a:solidFill>
                  <a:srgbClr val="233642"/>
                </a:solidFill>
                <a:latin typeface="Calibri"/>
                <a:cs typeface="Calibri"/>
              </a:rPr>
              <a:t>Di luar yang dinilai penelitian ini</a:t>
            </a: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 (batasan 1.4 butir c). Ditampilkan sebagai bagian sistem, bukan bagian pengukuran.</a:t>
            </a:r>
          </a:p>
        </p:txBody>
      </p:sp>
      <p:sp>
        <p:nvSpPr>
          <p:cNvPr id="25" name="Bidang 25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eks 26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27" name="Teks 27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Peta Integrasi dan Statusnya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3.1.3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2423160" cy="23774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Bidang 6"/>
          <p:cNvSpPr/>
          <p:nvPr/>
        </p:nvSpPr>
        <p:spPr>
          <a:xfrm>
            <a:off x="838200" y="1508760"/>
            <a:ext cx="41148" cy="23774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1066800" y="1691640"/>
            <a:ext cx="2011680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12324F"/>
                </a:solidFill>
                <a:latin typeface="Calibri"/>
                <a:cs typeface="Calibri"/>
              </a:rPr>
              <a:t>Gerbang agen · aktif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Seluruh materi teks.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Empat agen, satu model.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Inilah yang diukur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penelitian ini.</a:t>
            </a:r>
          </a:p>
        </p:txBody>
      </p:sp>
      <p:sp>
        <p:nvSpPr>
          <p:cNvPr id="8" name="Bidang 8"/>
          <p:cNvSpPr/>
          <p:nvPr/>
        </p:nvSpPr>
        <p:spPr>
          <a:xfrm>
            <a:off x="3535680" y="1508760"/>
            <a:ext cx="2423160" cy="23774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Bidang 9"/>
          <p:cNvSpPr/>
          <p:nvPr/>
        </p:nvSpPr>
        <p:spPr>
          <a:xfrm>
            <a:off x="3535680" y="1508760"/>
            <a:ext cx="41148" cy="23774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ks 10"/>
          <p:cNvSpPr txBox="1"/>
          <p:nvPr/>
        </p:nvSpPr>
        <p:spPr>
          <a:xfrm>
            <a:off x="3764280" y="1691640"/>
            <a:ext cx="2011680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12324F"/>
                </a:solidFill>
                <a:latin typeface="Calibri"/>
                <a:cs typeface="Calibri"/>
              </a:rPr>
              <a:t>Layanan gambar · aktif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Gambar dari arahan visual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yang dihasilkan agen.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Di luar lingkup penilaian.</a:t>
            </a:r>
          </a:p>
        </p:txBody>
      </p:sp>
      <p:sp>
        <p:nvSpPr>
          <p:cNvPr id="11" name="Bidang 11"/>
          <p:cNvSpPr/>
          <p:nvPr/>
        </p:nvSpPr>
        <p:spPr>
          <a:xfrm>
            <a:off x="6233160" y="1508760"/>
            <a:ext cx="2423160" cy="23774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Bidang 12"/>
          <p:cNvSpPr/>
          <p:nvPr/>
        </p:nvSpPr>
        <p:spPr>
          <a:xfrm>
            <a:off x="6233160" y="1508760"/>
            <a:ext cx="41148" cy="23774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ks 13"/>
          <p:cNvSpPr txBox="1"/>
          <p:nvPr/>
        </p:nvSpPr>
        <p:spPr>
          <a:xfrm>
            <a:off x="6461760" y="1691640"/>
            <a:ext cx="2011680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12324F"/>
                </a:solidFill>
                <a:latin typeface="Calibri"/>
                <a:cs typeface="Calibri"/>
              </a:rPr>
              <a:t>Lokapasar · menunggu kunci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Data pendapatan.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Kode siap, kredensial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belum tersedia.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Di luar lingkup.</a:t>
            </a:r>
          </a:p>
        </p:txBody>
      </p:sp>
      <p:sp>
        <p:nvSpPr>
          <p:cNvPr id="14" name="Bidang 14"/>
          <p:cNvSpPr/>
          <p:nvPr/>
        </p:nvSpPr>
        <p:spPr>
          <a:xfrm>
            <a:off x="8930640" y="1508760"/>
            <a:ext cx="2423160" cy="23774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Bidang 15"/>
          <p:cNvSpPr/>
          <p:nvPr/>
        </p:nvSpPr>
        <p:spPr>
          <a:xfrm>
            <a:off x="8930640" y="1508760"/>
            <a:ext cx="41148" cy="23774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ks 16"/>
          <p:cNvSpPr txBox="1"/>
          <p:nvPr/>
        </p:nvSpPr>
        <p:spPr>
          <a:xfrm>
            <a:off x="9159240" y="1691640"/>
            <a:ext cx="2011680" cy="2011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400" b="1" dirty="0">
                <a:solidFill>
                  <a:srgbClr val="12324F"/>
                </a:solidFill>
                <a:latin typeface="Calibri"/>
                <a:cs typeface="Calibri"/>
              </a:rPr>
              <a:t>Media sosial · menunggu kunci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Performa unggahan dan iklan.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Aksi berbayar wajib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persetujuan pemilik.</a:t>
            </a:r>
          </a:p>
          <a:p>
            <a:pPr marL="0" indent="0" algn="l">
              <a:lnSpc>
                <a:spcPct val="102000"/>
              </a:lnSpc>
              <a:spcBef>
                <a:spcPts val="260"/>
              </a:spcBef>
              <a:buNone/>
            </a:pPr>
            <a:r>
              <a:rPr lang="id-ID" sz="1300" dirty="0">
                <a:solidFill>
                  <a:srgbClr val="233642"/>
                </a:solidFill>
                <a:latin typeface="Calibri"/>
                <a:cs typeface="Calibri"/>
              </a:rPr>
              <a:t>Di luar lingkup.</a:t>
            </a:r>
          </a:p>
        </p:txBody>
      </p:sp>
      <p:sp>
        <p:nvSpPr>
          <p:cNvPr id="17" name="Teks 17"/>
          <p:cNvSpPr txBox="1"/>
          <p:nvPr/>
        </p:nvSpPr>
        <p:spPr>
          <a:xfrm>
            <a:off x="838200" y="4206240"/>
            <a:ext cx="10515600" cy="9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600"/>
              </a:spcBef>
              <a:buNone/>
            </a:pPr>
            <a:r>
              <a:rPr lang="id-ID" sz="1400" dirty="0">
                <a:solidFill>
                  <a:srgbClr val="233642"/>
                </a:solidFill>
                <a:latin typeface="Calibri"/>
                <a:cs typeface="Calibri"/>
              </a:rPr>
              <a:t>Yang dinilai penelitian ini hanya jalur produksi konten teks. Sisanya bagian dari sistem, bukan bagian dari pengukuran.</a:t>
            </a:r>
          </a:p>
        </p:txBody>
      </p:sp>
      <p:sp>
        <p:nvSpPr>
          <p:cNvPr id="18" name="Bidang 18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ks 19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20" name="Teks 20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Metode dan Rubrik Penilaian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3.2 · Tabel 3.2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10515600" cy="54864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Bidang 6"/>
          <p:cNvSpPr/>
          <p:nvPr/>
        </p:nvSpPr>
        <p:spPr>
          <a:xfrm>
            <a:off x="838200" y="1508760"/>
            <a:ext cx="41148" cy="54864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1043940" y="1508760"/>
            <a:ext cx="101041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dirty="0">
                <a:solidFill>
                  <a:srgbClr val="12324F"/>
                </a:solidFill>
                <a:latin typeface="Calibri"/>
                <a:cs typeface="Calibri"/>
              </a:rPr>
              <a:t>Pendekatan campuran · dua alat ukur: lembar catat waktu dan rubrik lima dimensi (skor maksimal 20)</a:t>
            </a:r>
          </a:p>
        </p:txBody>
      </p:sp>
      <p:graphicFrame>
        <p:nvGraphicFramePr>
          <p:cNvPr id="8" name="Tabel 8"/>
          <p:cNvGraphicFramePr>
            <a:graphicFrameLocks noGrp="1"/>
          </p:cNvGraphicFramePr>
          <p:nvPr/>
        </p:nvGraphicFramePr>
        <p:xfrm>
          <a:off x="838200" y="2240280"/>
          <a:ext cx="10515600" cy="320040"/>
        </p:xfrm>
        <a:graphic>
          <a:graphicData uri="http://schemas.openxmlformats.org/drawingml/2006/table">
            <a:tbl>
              <a:tblPr firstRow="1"/>
              <a:tblGrid>
                <a:gridCol w="3375377"/>
                <a:gridCol w="7140222"/>
              </a:tblGrid>
              <a:tr h="3200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Dimensi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12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Yang dinilai pada skor tertinggi (4)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12324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Gaya bahasa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Nada, sapaan, dan formalitas konsisten di seluruh teks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Sasaran audiens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Diksi dan rujukan tepat sasaran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Keunggulan produk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Keunggulan utama tersampaikan sesuai profil merek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Kepatuhan batasan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Seluruh batasan penulisan dipatuhi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2F5F7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Ajakan bertindak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id-ID" sz="1250" dirty="0">
                          <a:solidFill>
                            <a:srgbClr val="233642"/>
                          </a:solidFill>
                          <a:latin typeface="Calibri"/>
                          <a:cs typeface="Calibri"/>
                        </a:rPr>
                        <a:t>Bentuk dan penempatan sesuai profil merek</a:t>
                      </a:r>
                    </a:p>
                  </a:txBody>
                  <a:tcPr marL="91440" marR="91440" marT="54000" marB="54000" anchor="ctr">
                    <a:lnB w="12700">
                      <a:solidFill>
                        <a:srgbClr val="DCE3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ks 9"/>
          <p:cNvSpPr txBox="1"/>
          <p:nvPr/>
        </p:nvSpPr>
        <p:spPr>
          <a:xfrm>
            <a:off x="838200" y="4274640"/>
            <a:ext cx="10515600" cy="5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dirty="0">
                <a:solidFill>
                  <a:srgbClr val="6B7A85"/>
                </a:solidFill>
                <a:latin typeface="Calibri"/>
                <a:cs typeface="Calibri"/>
              </a:rPr>
              <a:t>Data dikumpulkan lewat observasi, wawancara, dokumentasi, dan eksperimen. Waktu dianalisis dengan median dan rentang, bukan rata-rata, karena sebaran data proses lama lebar.</a:t>
            </a:r>
          </a:p>
        </p:txBody>
      </p:sp>
      <p:sp>
        <p:nvSpPr>
          <p:cNvPr id="10" name="Bidang 10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ks 11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2" name="Teks 12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 2"/>
          <p:cNvSpPr txBox="1"/>
          <p:nvPr/>
        </p:nvSpPr>
        <p:spPr>
          <a:xfrm>
            <a:off x="838200" y="48006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2600" b="1" dirty="0">
                <a:solidFill>
                  <a:srgbClr val="12324F"/>
                </a:solidFill>
                <a:latin typeface="Calibri"/>
                <a:cs typeface="Calibri"/>
              </a:rPr>
              <a:t>Rancangan Pengujian dan Jadwal</a:t>
            </a:r>
          </a:p>
        </p:txBody>
      </p:sp>
      <p:sp>
        <p:nvSpPr>
          <p:cNvPr id="3" name="Bidang 3"/>
          <p:cNvSpPr/>
          <p:nvPr/>
        </p:nvSpPr>
        <p:spPr>
          <a:xfrm>
            <a:off x="838200" y="117094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ks 4"/>
          <p:cNvSpPr txBox="1"/>
          <p:nvPr/>
        </p:nvSpPr>
        <p:spPr>
          <a:xfrm>
            <a:off x="1615440" y="1110940"/>
            <a:ext cx="973836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200" spc="120" dirty="0">
                <a:solidFill>
                  <a:srgbClr val="6B7A85"/>
                </a:solidFill>
                <a:latin typeface="Calibri"/>
                <a:cs typeface="Calibri"/>
              </a:rPr>
              <a:t>BAB III · 3.2.5 dan 3.4</a:t>
            </a:r>
          </a:p>
        </p:txBody>
      </p:sp>
      <p:sp>
        <p:nvSpPr>
          <p:cNvPr id="5" name="Bidang 5"/>
          <p:cNvSpPr/>
          <p:nvPr/>
        </p:nvSpPr>
        <p:spPr>
          <a:xfrm>
            <a:off x="83820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ks 6"/>
          <p:cNvSpPr txBox="1"/>
          <p:nvPr/>
        </p:nvSpPr>
        <p:spPr>
          <a:xfrm>
            <a:off x="83820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Lima pengaman keberpihakan</a:t>
            </a:r>
          </a:p>
        </p:txBody>
      </p:sp>
      <p:sp>
        <p:nvSpPr>
          <p:cNvPr id="7" name="Teks 7"/>
          <p:cNvSpPr txBox="1"/>
          <p:nvPr/>
        </p:nvSpPr>
        <p:spPr>
          <a:xfrm>
            <a:off x="83820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450" dirty="0">
                <a:solidFill>
                  <a:srgbClr val="233642"/>
                </a:solidFill>
                <a:latin typeface="Calibri"/>
                <a:cs typeface="Calibri"/>
              </a:rPr>
              <a:t>Penilaian </a:t>
            </a:r>
            <a:r>
              <a:rPr lang="id-ID" sz="1450" i="1" dirty="0">
                <a:solidFill>
                  <a:srgbClr val="233642"/>
                </a:solidFill>
                <a:latin typeface="Calibri"/>
                <a:cs typeface="Calibri"/>
              </a:rPr>
              <a:t>buta</a:t>
            </a:r>
            <a:r>
              <a:rPr lang="id-ID" sz="1450" dirty="0">
                <a:solidFill>
                  <a:srgbClr val="233642"/>
                </a:solidFill>
                <a:latin typeface="Calibri"/>
                <a:cs typeface="Calibri"/>
              </a:rPr>
              <a:t> — penilai tidak tahu asal-usul naskah;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450" dirty="0">
                <a:solidFill>
                  <a:srgbClr val="233642"/>
                </a:solidFill>
                <a:latin typeface="Calibri"/>
                <a:cs typeface="Calibri"/>
              </a:rPr>
              <a:t>Urutan sampel diacak;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450" dirty="0">
                <a:solidFill>
                  <a:srgbClr val="233642"/>
                </a:solidFill>
                <a:latin typeface="Calibri"/>
                <a:cs typeface="Calibri"/>
              </a:rPr>
              <a:t>Sekurang-kurangnya tiga penilai, bekerja mandiri;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450" dirty="0">
                <a:solidFill>
                  <a:srgbClr val="233642"/>
                </a:solidFill>
                <a:latin typeface="Calibri"/>
                <a:cs typeface="Calibri"/>
              </a:rPr>
              <a:t>Kesepakatan antar-penilai dilaporkan, bukan disembunyikan;</a:t>
            </a:r>
          </a:p>
          <a:p>
            <a:pPr marL="342900" indent="-34290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Calibri"/>
              <a:buAutoNum type="alphaLcPeriod"/>
            </a:pPr>
            <a:r>
              <a:rPr lang="id-ID" sz="1450" dirty="0">
                <a:solidFill>
                  <a:srgbClr val="233642"/>
                </a:solidFill>
                <a:latin typeface="Calibri"/>
                <a:cs typeface="Calibri"/>
              </a:rPr>
              <a:t>Peneliti tidak menjadi penilai.</a:t>
            </a:r>
          </a:p>
        </p:txBody>
      </p:sp>
      <p:sp>
        <p:nvSpPr>
          <p:cNvPr id="8" name="Bidang 8"/>
          <p:cNvSpPr/>
          <p:nvPr/>
        </p:nvSpPr>
        <p:spPr>
          <a:xfrm>
            <a:off x="6370320" y="1508760"/>
            <a:ext cx="4983480" cy="41148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ks 9"/>
          <p:cNvSpPr txBox="1"/>
          <p:nvPr/>
        </p:nvSpPr>
        <p:spPr>
          <a:xfrm>
            <a:off x="6370320" y="1645920"/>
            <a:ext cx="49834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300" b="1" spc="100" dirty="0">
                <a:solidFill>
                  <a:srgbClr val="E4572E"/>
                </a:solidFill>
                <a:latin typeface="Calibri"/>
                <a:cs typeface="Calibri"/>
              </a:rPr>
              <a:t>Jadwal · Sep 2026 – Jan 2027</a:t>
            </a:r>
          </a:p>
        </p:txBody>
      </p:sp>
      <p:sp>
        <p:nvSpPr>
          <p:cNvPr id="10" name="Teks 10"/>
          <p:cNvSpPr txBox="1"/>
          <p:nvPr/>
        </p:nvSpPr>
        <p:spPr>
          <a:xfrm>
            <a:off x="6370320" y="2057400"/>
            <a:ext cx="4983480" cy="4009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50" i="1" dirty="0">
                <a:solidFill>
                  <a:srgbClr val="233642"/>
                </a:solidFill>
                <a:latin typeface="Calibri"/>
                <a:cs typeface="Calibri"/>
              </a:rPr>
              <a:t>Sep–Okt</a:t>
            </a:r>
            <a:r>
              <a:rPr lang="id-ID" sz="1450" dirty="0">
                <a:solidFill>
                  <a:srgbClr val="233642"/>
                </a:solidFill>
                <a:latin typeface="Calibri"/>
                <a:cs typeface="Calibri"/>
              </a:rPr>
              <a:t> — studi literatur, penyusunan proposal, pengumpulan data dan wawancara.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50" i="1" dirty="0">
                <a:solidFill>
                  <a:srgbClr val="233642"/>
                </a:solidFill>
                <a:latin typeface="Calibri"/>
                <a:cs typeface="Calibri"/>
              </a:rPr>
              <a:t>Nov</a:t>
            </a:r>
            <a:r>
              <a:rPr lang="id-ID" sz="1450" dirty="0">
                <a:solidFill>
                  <a:srgbClr val="233642"/>
                </a:solidFill>
                <a:latin typeface="Calibri"/>
                <a:cs typeface="Calibri"/>
              </a:rPr>
              <a:t> — analisis kebutuhan, perancangan, dan implementasi.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50" i="1" dirty="0">
                <a:solidFill>
                  <a:srgbClr val="233642"/>
                </a:solidFill>
                <a:latin typeface="Calibri"/>
                <a:cs typeface="Calibri"/>
              </a:rPr>
              <a:t>Des</a:t>
            </a:r>
            <a:r>
              <a:rPr lang="id-ID" sz="1450" dirty="0">
                <a:solidFill>
                  <a:srgbClr val="233642"/>
                </a:solidFill>
                <a:latin typeface="Calibri"/>
                <a:cs typeface="Calibri"/>
              </a:rPr>
              <a:t> — pengumpulan materi, penilaian rubrik, pengukuran waktu produksi.</a:t>
            </a:r>
          </a:p>
          <a:p>
            <a:pPr marL="285750" indent="-285750" algn="l">
              <a:lnSpc>
                <a:spcPct val="102000"/>
              </a:lnSpc>
              <a:spcBef>
                <a:spcPts val="600"/>
              </a:spcBef>
              <a:buClr>
                <a:srgbClr val="E4572E"/>
              </a:buClr>
              <a:buFont typeface="Arial"/>
              <a:buChar char="•"/>
            </a:pPr>
            <a:r>
              <a:rPr lang="id-ID" sz="1450" i="1" dirty="0">
                <a:solidFill>
                  <a:srgbClr val="233642"/>
                </a:solidFill>
                <a:latin typeface="Calibri"/>
                <a:cs typeface="Calibri"/>
              </a:rPr>
              <a:t>Des–Jan</a:t>
            </a:r>
            <a:r>
              <a:rPr lang="id-ID" sz="1450" dirty="0">
                <a:solidFill>
                  <a:srgbClr val="233642"/>
                </a:solidFill>
                <a:latin typeface="Calibri"/>
                <a:cs typeface="Calibri"/>
              </a:rPr>
              <a:t> — analisis hasil dan penyusunan laporan.</a:t>
            </a:r>
          </a:p>
        </p:txBody>
      </p:sp>
      <p:sp>
        <p:nvSpPr>
          <p:cNvPr id="11" name="Bidang 11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ks 12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13" name="Teks 13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dang 2"/>
          <p:cNvSpPr/>
          <p:nvPr/>
        </p:nvSpPr>
        <p:spPr>
          <a:xfrm>
            <a:off x="0" y="0"/>
            <a:ext cx="12192000" cy="20955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ks 3"/>
          <p:cNvSpPr txBox="1"/>
          <p:nvPr/>
        </p:nvSpPr>
        <p:spPr>
          <a:xfrm>
            <a:off x="838200" y="2400300"/>
            <a:ext cx="10515600" cy="8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4000" b="1" dirty="0">
                <a:solidFill>
                  <a:srgbClr val="12324F"/>
                </a:solidFill>
                <a:latin typeface="Calibri"/>
                <a:cs typeface="Calibri"/>
              </a:rPr>
              <a:t>Terima kasih</a:t>
            </a:r>
          </a:p>
        </p:txBody>
      </p:sp>
      <p:sp>
        <p:nvSpPr>
          <p:cNvPr id="4" name="Bidang 4"/>
          <p:cNvSpPr/>
          <p:nvPr/>
        </p:nvSpPr>
        <p:spPr>
          <a:xfrm>
            <a:off x="838200" y="3474720"/>
            <a:ext cx="640080" cy="41148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ks 5"/>
          <p:cNvSpPr txBox="1"/>
          <p:nvPr/>
        </p:nvSpPr>
        <p:spPr>
          <a:xfrm>
            <a:off x="838200" y="3749040"/>
            <a:ext cx="10515600" cy="9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700" dirty="0">
                <a:solidFill>
                  <a:srgbClr val="233642"/>
                </a:solidFill>
                <a:latin typeface="Calibri"/>
                <a:cs typeface="Calibri"/>
              </a:rPr>
              <a:t>Mohon arahan dan masukan dari Bapak/Ibu Dosen Penguji</a:t>
            </a:r>
          </a:p>
          <a:p>
            <a:pPr marL="0" indent="0" algn="l">
              <a:lnSpc>
                <a:spcPct val="102000"/>
              </a:lnSpc>
              <a:spcBef>
                <a:spcPts val="400"/>
              </a:spcBef>
              <a:buNone/>
            </a:pPr>
            <a:r>
              <a:rPr lang="id-ID" sz="1400" dirty="0">
                <a:solidFill>
                  <a:srgbClr val="6B7A85"/>
                </a:solidFill>
                <a:latin typeface="Calibri"/>
                <a:cs typeface="Calibri"/>
              </a:rPr>
              <a:t>Muhammad Faizal Triasa · NIM 231011701215 · Sistem Informasi S-1</a:t>
            </a:r>
          </a:p>
        </p:txBody>
      </p:sp>
      <p:sp>
        <p:nvSpPr>
          <p:cNvPr id="6" name="Bidang 6"/>
          <p:cNvSpPr/>
          <p:nvPr/>
        </p:nvSpPr>
        <p:spPr>
          <a:xfrm>
            <a:off x="838200" y="6217920"/>
            <a:ext cx="10515600" cy="9525"/>
          </a:xfrm>
          <a:prstGeom prst="rect">
            <a:avLst/>
          </a:prstGeom>
          <a:solidFill>
            <a:srgbClr val="DCE3E8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ks 7"/>
          <p:cNvSpPr txBox="1"/>
          <p:nvPr/>
        </p:nvSpPr>
        <p:spPr>
          <a:xfrm>
            <a:off x="838200" y="6309360"/>
            <a:ext cx="97156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Sidang Proposal Skripsi · Muhammad Faizal Triasa · 231011701215</a:t>
            </a:r>
          </a:p>
        </p:txBody>
      </p:sp>
      <p:sp>
        <p:nvSpPr>
          <p:cNvPr id="8" name="Teks 8"/>
          <p:cNvSpPr txBox="1"/>
          <p:nvPr/>
        </p:nvSpPr>
        <p:spPr>
          <a:xfrm>
            <a:off x="10553800" y="6309360"/>
            <a:ext cx="800000" cy="26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ct val="102000"/>
              </a:lnSpc>
              <a:spcBef>
                <a:spcPts val="0"/>
              </a:spcBef>
              <a:buNone/>
            </a:pPr>
            <a:r>
              <a:rPr lang="id-ID" sz="1000" dirty="0">
                <a:solidFill>
                  <a:srgbClr val="6B7A85"/>
                </a:solidFill>
                <a:latin typeface="Calibri"/>
                <a:cs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dang">
  <a:themeElements>
    <a:clrScheme name="Sidang">
      <a:dk1>
        <a:sysClr val="windowText" lastClr="000000"/>
      </a:dk1>
      <a:lt1>
        <a:sysClr val="window" lastClr="FFFFFF"/>
      </a:lt1>
      <a:dk2>
        <a:srgbClr val="12324F"/>
      </a:dk2>
      <a:lt2>
        <a:srgbClr val="F2F5F7"/>
      </a:lt2>
      <a:accent1>
        <a:srgbClr val="12324F"/>
      </a:accent1>
      <a:accent2>
        <a:srgbClr val="E4572E"/>
      </a:accent2>
      <a:accent3>
        <a:srgbClr val="6B7A85"/>
      </a:accent3>
      <a:accent4>
        <a:srgbClr val="233642"/>
      </a:accent4>
      <a:accent5>
        <a:srgbClr val="DCE3E8"/>
      </a:accent5>
      <a:accent6>
        <a:srgbClr val="A3B1BB"/>
      </a:accent6>
      <a:hlink>
        <a:srgbClr val="12324F"/>
      </a:hlink>
      <a:folHlink>
        <a:srgbClr val="6B7A85"/>
      </a:folHlink>
    </a:clrScheme>
    <a:fontScheme name="Sidang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ida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Perancangan Sistem Otomasi Produksi Konten Pemasaran Berbasis Multi-Agent AI untuk Meningkatkan Efisiensi dan Konsistensi Brand Voice</dc:title>
  <dc:creator>Muhammad Faizal Triasa</dc:creator>
  <cp:lastModifiedBy>Muhammad Faizal Triasa</cp:lastModifiedBy>
</cp:coreProperties>
</file>
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officeDocument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12192000" cy="6858000"/>
  <p:notesSz cx="6858000" cy="12192000"/>
</p:presentation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officeDocument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slideLayouts/_rels/slideLayout1.xml.rels><?xml version="1.0" encoding="UTF-8" standalone="yes"?><Relationships xmlns="http://schemas.openxmlformats.org/officeDocument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dang 2"/>
          <p:cNvSpPr/>
          <p:nvPr/>
        </p:nvSpPr>
        <p:spPr>
          <a:xfrm>
            <a:off x="0" y="0"/>
            <a:ext cx="12192000" cy="20955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idang 3"/>
          <p:cNvSpPr/>
          <p:nvPr/>
        </p:nvSpPr>
        <p:spPr>
          <a:xfrm>
            <a:off x="0" y="6103620"/>
            <a:ext cx="12192000" cy="75438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838200" y="960120"/>
            <a:ext cx="1051560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300" dirty="0">
                <a:solidFill>
                  <a:srgbClr val="E4572E"/>
                </a:solidFill>
                <a:latin typeface="Calibri"/>
                <a:cs typeface="Calibri"/>
              </a:rPr>
              <a:t>PROPOSAL SKRIPSI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420368"/>
            <a:ext cx="9052560" cy="22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Perancangan Sistem Otomasi Produksi Konten Pemasaran Berbasis </a:t>
            </a:r>
            <a:r>
              <a:rPr lang="id-ID" sz="3000" b="1" i="1" dirty="0">
                <a:solidFill>
                  <a:srgbClr val="12324F"/>
                </a:solidFill>
                <a:latin typeface="Calibri"/>
                <a:cs typeface="Calibri"/>
              </a:rPr>
              <a:t>Multi-Agent</a:t>
            </a: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 AI untuk Meningkatkan Efisiensi dan Konsistensi </a:t>
            </a:r>
            <a:r>
              <a:rPr lang="id-ID" sz="3000" b="1" i="1" dirty="0">
                <a:solidFill>
                  <a:srgbClr val="12324F"/>
                </a:solidFill>
                <a:latin typeface="Calibri"/>
                <a:cs typeface="Calibri"/>
              </a:rPr>
              <a:t>Brand Voice</a:t>
            </a:r>
          </a:p>
        </p:txBody>
      </p:sp>
      <p:sp>
        <p:nvSpPr>
          <p:cNvPr id="6" name="Teks 6"/>
          <p:cNvSpPr txBox="1"/>
          <p:nvPr/>
        </p:nvSpPr>
        <p:spPr>
          <a:xfrm>
            <a:off x="838200" y="3810000"/>
            <a:ext cx="1051560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Studi Kasus: SneakersFlash</a:t>
            </a:r>
          </a:p>
        </p:txBody>
      </p:sp>
      <p:sp>
        <p:nvSpPr>
          <p:cNvPr id="7" name="Bidang 7"/>
          <p:cNvSpPr/>
          <p:nvPr/>
        </p:nvSpPr>
        <p:spPr>
          <a:xfrm>
            <a:off x="838200" y="434340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ks 8"/>
          <p:cNvSpPr txBox="1"/>
          <p:nvPr/>
        </p:nvSpPr>
        <p:spPr>
          <a:xfrm>
            <a:off x="838200" y="4526280"/>
            <a:ext cx="8915400" cy="12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12324F"/>
                </a:solidFill>
                <a:latin typeface="Calibri"/>
                <a:cs typeface="Calibri"/>
              </a:rPr>
              <a:t>Muhammad Faizal Triasa</a:t>
            </a:r>
          </a:p>
          <a:p>
            <a:pPr marL="0" indent="0" algn="l">
              <a:lnSpc>
                <a:spcPct val="102000"/>
              </a:lnSpc>
              <a:spcBef>
                <a:spcPts val="200"/>
              </a:spcBef>
              <a:buNone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NIM 231011701215</a:t>
            </a:r>
          </a:p>
          <a:p>
            <a:pPr marL="0" indent="0" algn="l">
              <a:lnSpc>
                <a:spcPct val="102000"/>
              </a:lnSpc>
              <a:spcBef>
                <a:spcPts val="200"/>
              </a:spcBef>
              <a:buNone/>
            </a:pPr>
            <a:r>
              <a:rPr lang="id-ID" sz="1400" dirty="0">
                <a:solidFill>
                  <a:srgbClr val="6B7A85"/>
                </a:solidFill>
                <a:latin typeface="Calibri"/>
                <a:cs typeface="Calibri"/>
              </a:rPr>
              <a:t>Program Studi Sistem Informasi S-1 · Fakultas Ilmu Komputer</a:t>
            </a:r>
          </a:p>
          <a:p>
            <a:pPr marL="0" indent="0"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id-ID" sz="1400" dirty="0">
                <a:solidFill>
                  <a:srgbClr val="6B7A85"/>
                </a:solidFill>
                <a:latin typeface="Calibri"/>
                <a:cs typeface="Calibri"/>
              </a:rPr>
              <a:t>Dosen Pembimbing: [nama dan gelar pembimbing]</a:t>
            </a:r>
          </a:p>
        </p:txBody>
      </p:sp>
      <p:sp>
        <p:nvSpPr>
          <p:cNvPr id="9" name="Bidang 9"/>
          <p:cNvSpPr/>
          <p:nvPr/>
        </p:nvSpPr>
        <p:spPr>
          <a:xfrm>
            <a:off x="10165080" y="960120"/>
            <a:ext cx="1188720" cy="118872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10302240" y="960120"/>
            <a:ext cx="91440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logo Unpam 4 x 4 cm ]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838200" y="6352540"/>
            <a:ext cx="105156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Universitas Pamulang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Alur Presentasi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838200" y="1508760"/>
            <a:ext cx="1051560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Latar belakang dan permasalahan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Identifikasi, rumusan, dan batasan masalah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Tujuan dan manfaat penelitian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Penelitian terdahulu dan celah riset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Landasan teori dan kerangka berpikir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Analisis kebutuhan dan usulan sistem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Metode penelitian dan rancangan pengujian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Metode perancangan sistem dan jadwal penelitian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Latar Belakang (1/3)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1.1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1051560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600" b="1" dirty="0">
                <a:solidFill>
                  <a:srgbClr val="12324F"/>
                </a:solidFill>
                <a:latin typeface="Calibri"/>
                <a:cs typeface="Calibri"/>
              </a:rPr>
              <a:t>Persaingan bergeser ke kehadiran merek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Konsumen membandingkan harga dan ulasan dalam hitungan detik, sehingga keunggulan lokasi toko tidak lagi memadai (Lubis dkk., 2025).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Pada ritel sepatu olahraga, promosi media sosial berpengaruh signifikan terhadap keputusan pembelian, dan konsistensi pesan lintas platform dianjurkan (Ibrahim &amp; Abdurrahman, 2025).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600" b="1" dirty="0">
                <a:solidFill>
                  <a:srgbClr val="12324F"/>
                </a:solidFill>
                <a:latin typeface="Calibri"/>
                <a:cs typeface="Calibri"/>
              </a:rPr>
              <a:t>AI generatif menjawab, tetapi membawa syarat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Model bahasa besar sudah dipakai untuk penghasilan konten, namun menyisakan persoalan privasi, transparansi, dan bias (Aghaei dkk., 2025).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Kajian PRISMA menemukan ketegangan antara efisiensi dan integritas, dengan risiko halusinasi serta bias algoritmik — manusia tetap harus menjadi pemeriksa akhir (Rahman dkk., 2025).</a:t>
            </a:r>
          </a:p>
        </p:txBody>
      </p:sp>
      <p:sp>
        <p:nvSpPr>
          <p:cNvPr id="6" name="Bidang 6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Latar Belakang (2/3) — Kondisi di SneakersFlash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1.1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1–3 jam per materi · kasus ekstrem 12 jam · kebutuhan 5 materi per hari → 5–15 jam kerja per hari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838200" y="2240280"/>
            <a:ext cx="10515600" cy="3857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Waktu penyiapan panjang dan sangat bervariasi, sehingga jadwal peluncuran sulit diperkirakan.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Gaya bahasa berbeda antar admin karena standar merek hanya hidup sebagai kesepakatan lisan.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Perintah ke AI tidak menyertakan konteks merek, sehingga keluaran generik dan masih menuntut penyuntingan panjang.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Keluaran tidak tercatat, sehingga materi yang telah terbit tidak dapat ditelusuri kembali.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Latar Belakang (3/3) — Dampak dan Usulan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1.1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Bila dibiarkan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Jadwal peluncuran meleset dan momentum yang pendek terlewat.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Identitas merek kabur karena gaya bahasa berubah antar unggahan.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Mutu bergantung pada masing-masing admin — pergantian personel langsung menurunkan mutu.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Tidak ada jejak pencatatan, sehingga pertanggungjawaban sulit.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Yang diusulkan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Sistem otomasi produksi konten berpendekatan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melalui satu gerbang layanan tunggal.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Pembedanya: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profil merek terstruktur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disertakan sebagai konteks pada setiap permintaan.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Standar merek dieksekusi sistem, bukan diingat admin.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Setiap proses dicatat; manusia tetap pemeriksa akhir.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Identifikasi Masalah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1.2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1051560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Penyiapan materi konten memerlukan waktu lama karena seluruh tahapannya dikerjakan secara manual;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Gaya bahasa merek berubah-ubah antar admin karena standar merek tidak dieksekusi oleh sistem;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Perintah kepada AI dijalankan tanpa konteks merek sehingga keluaran cenderung generik dan menuntut penyuntingan ulang;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Keluaran AI tidak tercatat sehingga materi yang telah terbit tidak dapat ditelusuri kembali;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Standar merek yang berlaku belum dapat dipakai ulang untuk merek lain.</a:t>
            </a:r>
          </a:p>
        </p:txBody>
      </p:sp>
      <p:sp>
        <p:nvSpPr>
          <p:cNvPr id="6" name="Bidang 6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Rumusan Masalah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1.3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700" b="1" dirty="0">
                <a:solidFill>
                  <a:srgbClr val="12324F"/>
                </a:solidFill>
                <a:latin typeface="Calibri"/>
                <a:cs typeface="Calibri"/>
              </a:rPr>
              <a:t>Tiga pertanyaan: rancangan sistem · efisiensi waktu · konsistensi </a:t>
            </a:r>
            <a:r>
              <a:rPr lang="id-ID" sz="1700" b="1" i="1" dirty="0">
                <a:solidFill>
                  <a:srgbClr val="12324F"/>
                </a:solidFill>
                <a:latin typeface="Calibri"/>
                <a:cs typeface="Calibri"/>
              </a:rPr>
              <a:t>brand voice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838200" y="2240280"/>
            <a:ext cx="10515600" cy="3857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800" dirty="0">
                <a:solidFill>
                  <a:srgbClr val="233642"/>
                </a:solidFill>
                <a:latin typeface="Calibri"/>
                <a:cs typeface="Calibri"/>
              </a:rPr>
              <a:t>Bagaimana merancang dan membangun sistem otomasi produksi konten pemasaran berbasis </a:t>
            </a:r>
            <a:r>
              <a:rPr lang="id-ID" sz="18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800" dirty="0">
                <a:solidFill>
                  <a:srgbClr val="233642"/>
                </a:solidFill>
                <a:latin typeface="Calibri"/>
                <a:cs typeface="Calibri"/>
              </a:rPr>
              <a:t> AI pada SneakersFlash?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800" dirty="0">
                <a:solidFill>
                  <a:srgbClr val="233642"/>
                </a:solidFill>
                <a:latin typeface="Calibri"/>
                <a:cs typeface="Calibri"/>
              </a:rPr>
              <a:t>Bagaimana pengaruh penerapan sistem tersebut terhadap efisiensi waktu produksi konten dibandingkan proses yang berjalan sebelumnya?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800" dirty="0">
                <a:solidFill>
                  <a:srgbClr val="233642"/>
                </a:solidFill>
                <a:latin typeface="Calibri"/>
                <a:cs typeface="Calibri"/>
              </a:rPr>
              <a:t>Sejauh mana profil merek terstruktur yang digunakan sistem dapat menjaga konsistensi </a:t>
            </a:r>
            <a:r>
              <a:rPr lang="id-ID" sz="18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800" dirty="0">
                <a:solidFill>
                  <a:srgbClr val="233642"/>
                </a:solidFill>
                <a:latin typeface="Calibri"/>
                <a:cs typeface="Calibri"/>
              </a:rPr>
              <a:t> pada keluaran konten?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Batasan Masalah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1.4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Objek dan lingkup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SneakersFlash dengan satu profil merek aktif.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Sistem berstatus </a:t>
            </a: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prototipe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 dan masih dalam pengujian — belum dipakai untuk operasional harian.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Modul terbatas pada produksi konten: ringkasan konten, penulisan naskah, dan penghalusan teks.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Modul pendapatan dan performa media sosial di luar lingkup.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Pengukuran dan asumsi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Model bahasa diperlakukan sebagai </a:t>
            </a: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kotak hitam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 — tidak dievaluasi, dibandingkan, maupun dilatih ulang.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Perbandingan efisiensi antar-proses secara keseluruhan; kontribusi arsitektur </a:t>
            </a: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 tidak diisolasi.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Konsistensi </a:t>
            </a: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 dinilai manusia dengan rubrik, bukan pendeteksi teks AI otomatis.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Durasi proses lama berupa estimasi retrospektif, sehingga pembandingan bersifat deskriptif.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Keamanan sistem dan infrastruktur penempatan tidak dibahas.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Tujuan dan Manfaat Penelitian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1.5 dan 1.6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Tujuan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Merancang dan membangun sistem otomasi produksi konten pemasaran berbasis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AI pada SneakersFlash;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Mengukur pengaruh penerapan sistem terhadap efisiensi waktu produksi konten dibandingkan proses sebelumnya;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Mengevaluasi sejauh mana profil merek terstruktur menjaga konsistensi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pada keluaran konten.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Manfaat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Universitas Pamulang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Rujukan penerapan AI generatif pada proses bisnis nyata dan bahan pembanding penelitian sejenis.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Instansi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Memangkas waktu penyiapan materi, menyeragamkan identitas merek, dan menyediakan jejak pencatatan.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Penulis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Menerapkan analisis dan perancangan sistem, rekayasa perangkat lunak, serta metodologi penelitian pada masalah nyata.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Penelitian Terdahulu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 · 2.1 · 20 studi (10 naratif, 10 pada Tabel 2.1)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1051560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Kelompok 1 — Kajian teknologi </a:t>
            </a:r>
            <a:r>
              <a:rPr lang="id-ID" sz="1500" b="1" i="1" dirty="0">
                <a:solidFill>
                  <a:srgbClr val="12324F"/>
                </a:solidFill>
                <a:latin typeface="Calibri"/>
                <a:cs typeface="Calibri"/>
              </a:rPr>
              <a:t>multi-agent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Tran dkk. (2025), Lin dkk. (2025), Yan dkk. (2025): mekanisme kolaborasi antar-agen sudah dipetakan, tetapi berhenti pada tataran konseptual.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Kelompok 2 — Penerapan pada pemasaran dan identitas merek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Chu dkk. (2025) menempatkan agen pada sisi konsumen; Purpura dkk. (2025) pada penelaahan materi yang sudah ada — sisi produksi belum tergarap.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Kirkby dkk. (2023): pengungkapan AI tidak merusak persepsi keaslian; Wang dkk. (2025): model kesulitan meniru gaya yang tidak dinyatakan eksplisit.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Kelompok 3 — Rancang bangun sistem informasi di Indonesia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Yusna dkk. (2025), Yunus dkk. (2025), Hanum dkk. (2026), dan lainnya: pengujian berhenti pada kesesuaian fungsi (</a:t>
            </a:r>
            <a:r>
              <a:rPr lang="id-ID" sz="1500" i="1" dirty="0">
                <a:solidFill>
                  <a:srgbClr val="6B7A85"/>
                </a:solidFill>
                <a:latin typeface="Calibri"/>
                <a:cs typeface="Calibri"/>
              </a:rPr>
              <a:t>black box</a:t>
            </a: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), tanpa menilai mutu luaran.</a:t>
            </a:r>
          </a:p>
        </p:txBody>
      </p:sp>
      <p:sp>
        <p:nvSpPr>
          <p:cNvPr id="6" name="Bidang 6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Celah Riset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 · 2.1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550" b="1" dirty="0">
                <a:solidFill>
                  <a:srgbClr val="12324F"/>
                </a:solidFill>
                <a:latin typeface="Calibri"/>
                <a:cs typeface="Calibri"/>
              </a:rPr>
              <a:t>Belum ditemukan penelitian yang memenuhi keempat hal berikut sekaligus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838200" y="2240280"/>
            <a:ext cx="10515600" cy="3857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Merancang sistem produksi konten pemasaran untuk proses kerja yang </a:t>
            </a:r>
            <a:r>
              <a:rPr lang="id-ID" sz="1650" i="1" dirty="0">
                <a:solidFill>
                  <a:srgbClr val="233642"/>
                </a:solidFill>
                <a:latin typeface="Calibri"/>
                <a:cs typeface="Calibri"/>
              </a:rPr>
              <a:t>nyata</a:t>
            </a: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, bukan simulasi;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Menerapkan arsitektur </a:t>
            </a:r>
            <a:r>
              <a:rPr lang="id-ID" sz="165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 dengan pembagian tugas per modul;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Menggunakan profil merek terstruktur sebagai konteks — menjawab keterbatasan peniruan gaya yang ditemukan Wang dkk. (2025);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Mengukur dampak pada dua sisi sekaligus, yaitu efisiensi waktu dan konsistensi </a:t>
            </a:r>
            <a:r>
              <a:rPr lang="id-ID" sz="165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650" dirty="0">
                <a:solidFill>
                  <a:srgbClr val="233642"/>
                </a:solidFill>
                <a:latin typeface="Calibri"/>
                <a:cs typeface="Calibri"/>
              </a:rPr>
              <a:t>, dalam konteks ritel berbahasa Indonesia.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Landasan Teori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 · 2.2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Domain dan teknologi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Produksi konten pemasaran digital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Kecerdasan buatan generatif dan model bahasa besar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Agen cerdas dan sistem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dan konsistensi identitas merek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Otomasi alur kerja dan antrian tugas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Rekayasa dan pengukuran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Arsitektur aplikasi web dan REST API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Metode perancangan sistem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Rapid Application Development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Rubrik penilaian dan kesepakatan antar-penilai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Notasi perancangan sistem (UML dan ERD)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Kerangka Berpikir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 · 2.3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530352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Masalah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Waktu penyiapan panjang; gaya bahasa tidak konsisten antar admin.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Tinjauan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Teori </a:t>
            </a:r>
            <a:r>
              <a:rPr lang="id-ID" sz="1450" i="1" dirty="0">
                <a:solidFill>
                  <a:srgbClr val="6B7A85"/>
                </a:solidFill>
                <a:latin typeface="Calibri"/>
                <a:cs typeface="Calibri"/>
              </a:rPr>
              <a:t>multi-agent</a:t>
            </a: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 dan konteks terstruktur; penelitian terdahulu menunjukkan celah pada sisi produksi.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Rancangan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Empat agen per modul, profil merek sebagai konteks, pencatatan setiap proses.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Pengujian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Pengukuran waktu produksi dan penilaian rubrik secara buta.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Hasil yang diharapkan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Waktu produksi menurun dan konsistensi </a:t>
            </a:r>
            <a:r>
              <a:rPr lang="id-ID" sz="1450" i="1" dirty="0">
                <a:solidFill>
                  <a:srgbClr val="6B7A85"/>
                </a:solidFill>
                <a:latin typeface="Calibri"/>
                <a:cs typeface="Calibri"/>
              </a:rPr>
              <a:t>brand voice</a:t>
            </a: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 meningkat.</a:t>
            </a:r>
          </a:p>
        </p:txBody>
      </p:sp>
      <p:sp>
        <p:nvSpPr>
          <p:cNvPr id="6" name="Bidang 6"/>
          <p:cNvSpPr/>
          <p:nvPr/>
        </p:nvSpPr>
        <p:spPr>
          <a:xfrm>
            <a:off x="6598920" y="1508760"/>
            <a:ext cx="4754880" cy="422910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6736080" y="1508760"/>
            <a:ext cx="4480560" cy="42291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Gambar 2.1 ]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6598920" y="5875020"/>
            <a:ext cx="47548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Gambar 2.1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Analisis Sistem yang Sedang Berjalan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3.1.1 dan 3.1.2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530352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Admin menyusun sendiri ringkasan konten, naskah unggahan, dan naskah iklan secara manual.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Sebagian admin memakai AI lewat antarmuka percakapan umum dengan perintah yang disusun sendiri, tanpa acuan bersama.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Tidak ada berkas acuan yang mengikat mengenai gaya bahasa merek.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Tidak ada pencatatan atas naskah yang dihasilkan.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Empat permasalahan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Waktu panjang · gaya bahasa tidak seragam · keluaran generik · tidak dapat ditelusuri.</a:t>
            </a:r>
          </a:p>
        </p:txBody>
      </p:sp>
      <p:sp>
        <p:nvSpPr>
          <p:cNvPr id="6" name="Bidang 6"/>
          <p:cNvSpPr/>
          <p:nvPr/>
        </p:nvSpPr>
        <p:spPr>
          <a:xfrm>
            <a:off x="6598920" y="1508760"/>
            <a:ext cx="4754880" cy="422910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6736080" y="1508760"/>
            <a:ext cx="4480560" cy="42291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Gambar 3.1 ]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6598920" y="5875020"/>
            <a:ext cx="47548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Gambar 3.1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Usulan Sistem — Arsitektur Tiga Lapis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530352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Lapis 1 — Antarmuka pengguna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Aplikasi web internal; tidak pernah mengakses gerbang agen maupun basis data secara langsung.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Lapis 2 — Layanan </a:t>
            </a:r>
            <a:r>
              <a:rPr lang="id-ID" sz="1500" b="1" i="1" dirty="0">
                <a:solidFill>
                  <a:srgbClr val="12324F"/>
                </a:solidFill>
                <a:latin typeface="Calibri"/>
                <a:cs typeface="Calibri"/>
              </a:rPr>
              <a:t>backend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Satu-satunya pintu menuju basis data dan layanan luar; mengambil profil merek aktif dan menyertakannya ke setiap permintaan.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Lapis 3 — Gerbang agen model bahasa besar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00" dirty="0">
                <a:solidFill>
                  <a:srgbClr val="6B7A85"/>
                </a:solidFill>
                <a:latin typeface="Calibri"/>
                <a:cs typeface="Calibri"/>
              </a:rPr>
              <a:t>Empat agen: penyusun ringkasan konten, penulis naskah, penghalus teks, dan penyusun materi iklan.</a:t>
            </a:r>
          </a:p>
        </p:txBody>
      </p:sp>
      <p:sp>
        <p:nvSpPr>
          <p:cNvPr id="6" name="Bidang 6"/>
          <p:cNvSpPr/>
          <p:nvPr/>
        </p:nvSpPr>
        <p:spPr>
          <a:xfrm>
            <a:off x="6598920" y="1508760"/>
            <a:ext cx="4754880" cy="422910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6736080" y="1508760"/>
            <a:ext cx="4480560" cy="42291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Gambar 3.2 ]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6598920" y="5875020"/>
            <a:ext cx="47548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Gambar 3.2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Pembeda — Profil Merek sebagai Konteks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Standar merek dieksekusi sistem, bukan bergantung pada ingatan admin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838200" y="2240280"/>
            <a:ext cx="10515600" cy="3857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600" b="1" dirty="0">
                <a:solidFill>
                  <a:srgbClr val="12324F"/>
                </a:solidFill>
                <a:latin typeface="Calibri"/>
                <a:cs typeface="Calibri"/>
              </a:rPr>
              <a:t>Isi profil merek yang disertakan pada setiap permintaan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Gaya bahasa · sasaran audiens · keunggulan produk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Batasan penulisan · ajakan bertindak · pengetahuan produk · contoh naskah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600" b="1" dirty="0">
                <a:solidFill>
                  <a:srgbClr val="12324F"/>
                </a:solidFill>
                <a:latin typeface="Calibri"/>
                <a:cs typeface="Calibri"/>
              </a:rPr>
              <a:t>Pengaman yang menyertainya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Setiap proses penghasilan dicatat beserta masukan, keluaran, dan penggunanya.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Proses gabungan dijalankan asinkron melalui antrian tugas agar antarmuka tidak terkunci menunggu.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Manusia tetap menjadi pemeriksa akhir sebelum materi diterbitkan.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Kebutuhan Fungsional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3.1.4 · Tabel 3.1 memuat 21 kebutuhan</a:t>
            </a:r>
          </a:p>
        </p:txBody>
      </p:sp>
      <p:graphicFrame>
        <p:nvGraphicFramePr>
          <p:cNvPr id="5" name="Tabel 5"/>
          <p:cNvGraphicFramePr>
            <a:graphicFrameLocks noGrp="1"/>
          </p:cNvGraphicFramePr>
          <p:nvPr/>
        </p:nvGraphicFramePr>
        <p:xfrm>
          <a:off x="838200" y="1508760"/>
          <a:ext cx="10515600" cy="320040"/>
        </p:xfrm>
        <a:graphic>
          <a:graphicData uri="http://schemas.openxmlformats.org/drawingml/2006/table">
            <a:tbl>
              <a:tblPr firstRow="1"/>
              <a:tblGrid>
                <a:gridCol w="1947333"/>
                <a:gridCol w="5452533"/>
                <a:gridCol w="3115733"/>
              </a:tblGrid>
              <a:tr h="3200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Kode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Kelompok kebutuhan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Aktor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AUTH-01–03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Masuk, keluar, dan ubah kata sandi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Owner, Member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USER-01–03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Menambah, menonaktifkan, dan melihat akun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Owner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BRAND-01–05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Kelola profil merek dan pilih profil aktif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Owner, Member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SUBJ-01–02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Memasukkan dan menyimpan subjek produk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Owner, Member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CRE-01–05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Ringkasan konten, naskah, penghalusan, proses gabungan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Owner, Member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AUD-01–02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Mencatat proses penghasilan dan melihat riwayat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Sistem, Owner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ks 6"/>
          <p:cNvSpPr txBox="1"/>
          <p:nvPr/>
        </p:nvSpPr>
        <p:spPr>
          <a:xfrm>
            <a:off x="838200" y="3831120"/>
            <a:ext cx="1051560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Modul performa media sosial dan modul pendapatan tidak dimasukkan karena integrasinya belum aktif (batasan 1.4).</a:t>
            </a:r>
          </a:p>
        </p:txBody>
      </p:sp>
      <p:sp>
        <p:nvSpPr>
          <p:cNvPr id="7" name="Bidang 7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ks 8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9" name="Teks 9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Metode Penelitian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3.2.1 dan 3.2.2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Pendekatan campuran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Kuantitatif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— mengukur efisiensi waktu produksi konten sebelum dan sesudah sistem diterapkan.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Kuantitatif berbasis penilaian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— menilai konsistensi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melalui rubrik yang diisi penilai.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Kualitatif terbatas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— observasi dan wawancara untuk memahami proses berjalan dan menyusun kebutuhan.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Pengumpulan data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Observasi proses penyiapan materi yang berjalan;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Wawancara dengan admin yang menjalankan proses;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Dokumentasi catatan waktu dan arsip naskah terbit;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Eksperimen penghasilan naskah untuk dinilai konsistensinya.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Instrumen Penelitian — Rubrik </a:t>
            </a:r>
            <a:r>
              <a:rPr lang="id-ID" sz="2600" b="1" i="1" dirty="0">
                <a:solidFill>
                  <a:srgbClr val="12324F"/>
                </a:solidFill>
                <a:latin typeface="Calibri"/>
                <a:cs typeface="Calibri"/>
              </a:rPr>
              <a:t>Brand Voice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3.2.4 · Tabel 3.2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Lima dimensi × skor 1–4 → skor maksimal 20 · 17–20 sangat konsisten, 13–16 konsisten, 9–12 cukup, 5–8 tidak konsisten</a:t>
            </a:r>
          </a:p>
        </p:txBody>
      </p:sp>
      <p:graphicFrame>
        <p:nvGraphicFramePr>
          <p:cNvPr id="8" name="Tabel 8"/>
          <p:cNvGraphicFramePr>
            <a:graphicFrameLocks noGrp="1"/>
          </p:cNvGraphicFramePr>
          <p:nvPr/>
        </p:nvGraphicFramePr>
        <p:xfrm>
          <a:off x="838200" y="2240280"/>
          <a:ext cx="10515600" cy="320040"/>
        </p:xfrm>
        <a:graphic>
          <a:graphicData uri="http://schemas.openxmlformats.org/drawingml/2006/table">
            <a:tbl>
              <a:tblPr firstRow="1"/>
              <a:tblGrid>
                <a:gridCol w="3375377"/>
                <a:gridCol w="7140222"/>
              </a:tblGrid>
              <a:tr h="3200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Dimensi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Yang dinilai pada skor tertinggi (4)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Gaya bahasa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Nada, sapaan, dan tingkat formalitas konsisten di seluruh teks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Sasaran audiens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Diksi dan rujukan tepat sasaran di seluruh teks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Keunggulan produk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Keunggulan utama tersampaikan jelas sesuai profil merek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Kepatuhan batasan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Seluruh batasan penulisan dipatuhi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Ajakan bertindak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Bentuk dan penempatan sesuai profil merek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ks 9"/>
          <p:cNvSpPr txBox="1"/>
          <p:nvPr/>
        </p:nvSpPr>
        <p:spPr>
          <a:xfrm>
            <a:off x="838200" y="4274640"/>
            <a:ext cx="1051560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Dimensi diturunkan dari bidang pada profil merek di sistem, sehingga penilaian dapat ditelusuri ke acuan yang benar-benar dipakai saat naskah dihasilkan. Instrumen kedua: lembar catat waktu.</a:t>
            </a:r>
          </a:p>
        </p:txBody>
      </p:sp>
      <p:sp>
        <p:nvSpPr>
          <p:cNvPr id="10" name="Bidang 10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ks 11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2" name="Teks 12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Rancangan Pengujian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3.2.5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500" b="1" dirty="0">
                <a:solidFill>
                  <a:srgbClr val="12324F"/>
                </a:solidFill>
                <a:latin typeface="Calibri"/>
                <a:cs typeface="Calibri"/>
              </a:rPr>
              <a:t>Peneliti adalah bagian dari instansi yang diteliti — lima pengaman ditetapkan untuk menekan keberpihakan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838200" y="2240280"/>
            <a:ext cx="10515600" cy="3857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Penilaian dilakukan secara </a:t>
            </a: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buta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: penilai tidak tahu naskah mana yang dihasilkan dengan konteks merek dan mana yang tanpa;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Urutan penyajian sampel diacak sehingga tidak membentuk pola;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Sekurang-kurangnya tiga penilai bekerja mandiri tanpa berdiskusi;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Kesepakatan antar-penilai dihitung dan dilaporkan, bukan disembunyikan;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Peneliti tidak bertindak sebagai penilai.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600" b="1" dirty="0">
                <a:solidFill>
                  <a:srgbClr val="12324F"/>
                </a:solidFill>
                <a:latin typeface="Calibri"/>
                <a:cs typeface="Calibri"/>
              </a:rPr>
              <a:t>Pengujian fungsional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600" dirty="0">
                <a:solidFill>
                  <a:srgbClr val="6B7A85"/>
                </a:solidFill>
                <a:latin typeface="Calibri"/>
                <a:cs typeface="Calibri"/>
              </a:rPr>
              <a:t>Metode </a:t>
            </a:r>
            <a:r>
              <a:rPr lang="id-ID" sz="1600" i="1" dirty="0">
                <a:solidFill>
                  <a:srgbClr val="6B7A85"/>
                </a:solidFill>
                <a:latin typeface="Calibri"/>
                <a:cs typeface="Calibri"/>
              </a:rPr>
              <a:t>black box</a:t>
            </a:r>
            <a:r>
              <a:rPr lang="id-ID" sz="1600" dirty="0">
                <a:solidFill>
                  <a:srgbClr val="6B7A85"/>
                </a:solidFill>
                <a:latin typeface="Calibri"/>
                <a:cs typeface="Calibri"/>
              </a:rPr>
              <a:t> terhadap seluruh kebutuhan pada Tabel 3.1.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Metode Analisis Data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3.2.6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Waktu produksi konten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Statistik deskriptif: nilai terendah, tertinggi,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median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, dan rentang.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Median dan rentang dipilih karena data proses lama berupa estimasi dengan sebaran lebar — rata-rata mudah terdistorsi kasus ekstrem.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Tanpa uji statistik parametrik: syarat pengukuran setara pada kedua kelompok tidak terpenuhi.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Penyempitan rentang dilaporkan sebagai indikator keterdugaan proses.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Skor rubrik dan kejujuran klaim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Statistik deskriptif per dimensi, dibandingkan antara naskah dengan konteks merek dan tanpa konteks merek.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Kesepakatan antar-penilai dihitung dengan koefisien yang sesuai jumlah penilai dan skala.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Penelitian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tidak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mengklaim penurunan waktu semata-mata disebabkan arsitektur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— antarmuka terpusat diterapkan bersamaan. Keterbatasan ini dinyatakan pada 1.4.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Metode Perancangan Sistem — RAD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3.3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530352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1. Requirements Planning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Observasi, wawancara, dan dokumen acuan (SRS, IA, DS, alur pengguna) diselesaikan sebelum penulisan kode.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2. User Design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Kerangka aplikasi, tata letak dan navigasi, serta struktur basis data; ditinjau pengguna dan diperbaiki.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3. Construction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Dibangun bertahap per bagian fungsi, tiap bagian diuji begitu selesai. Konteks merek disempurnakan saat keluaran dinilai terlalu umum.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4. Cutover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450" dirty="0">
                <a:solidFill>
                  <a:srgbClr val="6B7A85"/>
                </a:solidFill>
                <a:latin typeface="Calibri"/>
                <a:cs typeface="Calibri"/>
              </a:rPr>
              <a:t>Penempatan dalam wadah pada peladen uji dan pengujian menyeluruh. Penerapan operasional harian di luar lingkup.</a:t>
            </a:r>
          </a:p>
        </p:txBody>
      </p:sp>
      <p:sp>
        <p:nvSpPr>
          <p:cNvPr id="6" name="Bidang 6"/>
          <p:cNvSpPr/>
          <p:nvPr/>
        </p:nvSpPr>
        <p:spPr>
          <a:xfrm>
            <a:off x="6598920" y="1508760"/>
            <a:ext cx="4754880" cy="422910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6736080" y="1508760"/>
            <a:ext cx="4480560" cy="42291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Gambar 3.5 ]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6598920" y="5875020"/>
            <a:ext cx="47548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Gambar 3.5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Jadwal Penelitian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3.4 · Tabel 3.3</a:t>
            </a:r>
          </a:p>
        </p:txBody>
      </p:sp>
      <p:graphicFrame>
        <p:nvGraphicFramePr>
          <p:cNvPr id="5" name="Tabel 5"/>
          <p:cNvGraphicFramePr>
            <a:graphicFrameLocks noGrp="1"/>
          </p:cNvGraphicFramePr>
          <p:nvPr/>
        </p:nvGraphicFramePr>
        <p:xfrm>
          <a:off x="838200" y="1508760"/>
          <a:ext cx="10515600" cy="320040"/>
        </p:xfrm>
        <a:graphic>
          <a:graphicData uri="http://schemas.openxmlformats.org/drawingml/2006/table">
            <a:tbl>
              <a:tblPr firstRow="1"/>
              <a:tblGrid>
                <a:gridCol w="4673600"/>
                <a:gridCol w="1168400"/>
                <a:gridCol w="1168400"/>
                <a:gridCol w="1168400"/>
                <a:gridCol w="1168400"/>
                <a:gridCol w="1168400"/>
              </a:tblGrid>
              <a:tr h="3200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Kegiatan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Sep 26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Okt 26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Nov 26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 26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Jan 27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Studi literatur dan penyusunan proposal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Pengumpulan data dan wawancara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Analisis kebutuhan dan perancangan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Implementasi dan penyempurnaan sistem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Pengumpulan materi dan penilaian rubrik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Pengukuran waktu produksi konten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Analisis hasil dan penyusunan laporan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endParaRPr lang="id-ID"/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X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idang 6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dang 2"/>
          <p:cNvSpPr/>
          <p:nvPr/>
        </p:nvSpPr>
        <p:spPr>
          <a:xfrm>
            <a:off x="0" y="0"/>
            <a:ext cx="12192000" cy="20955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ks 3"/>
          <p:cNvSpPr txBox="1"/>
          <p:nvPr/>
        </p:nvSpPr>
        <p:spPr>
          <a:xfrm>
            <a:off x="838200" y="2400300"/>
            <a:ext cx="10515600" cy="8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4000" b="1" dirty="0">
                <a:solidFill>
                  <a:srgbClr val="12324F"/>
                </a:solidFill>
                <a:latin typeface="Calibri"/>
                <a:cs typeface="Calibri"/>
              </a:rPr>
              <a:t>Terima kasih</a:t>
            </a:r>
          </a:p>
        </p:txBody>
      </p:sp>
      <p:sp>
        <p:nvSpPr>
          <p:cNvPr id="4" name="Bidang 4"/>
          <p:cNvSpPr/>
          <p:nvPr/>
        </p:nvSpPr>
        <p:spPr>
          <a:xfrm>
            <a:off x="838200" y="347472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ks 5"/>
          <p:cNvSpPr txBox="1"/>
          <p:nvPr/>
        </p:nvSpPr>
        <p:spPr>
          <a:xfrm>
            <a:off x="838200" y="374904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Mohon arahan dan masukan dari Bapak/Ibu Dosen Penguji</a:t>
            </a:r>
          </a:p>
          <a:p>
            <a:pPr marL="0" indent="0" algn="l">
              <a:lnSpc>
                <a:spcPct val="102000"/>
              </a:lnSpc>
              <a:spcBef>
                <a:spcPts val="400"/>
              </a:spcBef>
              <a:buNone/>
            </a:pPr>
            <a:r>
              <a:rPr lang="id-ID" sz="1400" dirty="0">
                <a:solidFill>
                  <a:srgbClr val="6B7A85"/>
                </a:solidFill>
                <a:latin typeface="Calibri"/>
                <a:cs typeface="Calibri"/>
              </a:rPr>
              <a:t>Muhammad Faizal Triasa · NIM 231011701215 · Sistem Informasi S-1</a:t>
            </a:r>
          </a:p>
        </p:txBody>
      </p:sp>
      <p:sp>
        <p:nvSpPr>
          <p:cNvPr id="6" name="Bidang 6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dang">
  <a:themeElements>
    <a:clrScheme name="Sidang">
      <a:dk1>
        <a:sysClr val="windowText" lastClr="000000"/>
      </a:dk1>
      <a:lt1>
        <a:sysClr val="window" lastClr="FFFFFF"/>
      </a:lt1>
      <a:dk2>
        <a:srgbClr val="12324F"/>
      </a:dk2>
      <a:lt2>
        <a:srgbClr val="F2F5F7"/>
      </a:lt2>
      <a:accent1>
        <a:srgbClr val="12324F"/>
      </a:accent1>
      <a:accent2>
        <a:srgbClr val="E4572E"/>
      </a:accent2>
      <a:accent3>
        <a:srgbClr val="6B7A85"/>
      </a:accent3>
      <a:accent4>
        <a:srgbClr val="233642"/>
      </a:accent4>
      <a:accent5>
        <a:srgbClr val="DCE3E8"/>
      </a:accent5>
      <a:accent6>
        <a:srgbClr val="A3B1BB"/>
      </a:accent6>
      <a:hlink>
        <a:srgbClr val="12324F"/>
      </a:hlink>
      <a:folHlink>
        <a:srgbClr val="6B7A85"/>
      </a:folHlink>
    </a:clrScheme>
    <a:fontScheme name="Sidang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id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Perancangan Sistem Otomasi Produksi Konten Pemasaran Berbasis Multi-Agent AI untuk Meningkatkan Efisiensi dan Konsistensi Brand Voice</dc:title>
  <dc:creator>Muhammad Faizal Triasa</dc:creator>
  <cp:lastModifiedBy>Muhammad Faizal Triasa</cp:lastModifiedBy>
</cp:coreProperties>
</file>
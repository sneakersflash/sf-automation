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officeDocument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</p:sldIdLst>
  <p:sldSz cx="12192000" cy="6858000"/>
  <p:notesSz cx="6858000" cy="12192000"/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officeDocument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/Relationships>
</file>

<file path=ppt/notesMasters/_rels/notesMaster1.xml.rels><?xml version="1.0" encoding="UTF-8" standalone="yes"?><Relationships xmlns="http://schemas.openxmlformats.org/officeDocument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2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<Relationships xmlns="http://schemas.openxmlformats.org/officeDocument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Presentasi dibagi lima. Bagian ketiga paling panjang karena di situ letak</a:t>
            </a:r>
          </a:p>
          <a:p>
            <a:r>
              <a:rPr lang="id-ID" dirty="0"/>
              <a:t>kebaruan penelitian ini — cara sistem membagi tugas ke beberapa agen.</a:t>
            </a:r>
          </a:p>
          <a:p>
            <a:r>
              <a:rPr lang="id-ID" dirty="0"/>
              <a:t>Target waktu: 15 menit, sisakan waktu untuk tanya jawab.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Angka ini estimasi retrospektif dari praktik kerja tim, bukan catatan waktu</a:t>
            </a:r>
          </a:p>
          <a:p>
            <a:r>
              <a:rPr lang="id-ID" dirty="0"/>
              <a:t>yang terekam sistem. Keterbatasan itu dinyatakan pada batasan masalah 1.4</a:t>
            </a:r>
          </a:p>
          <a:p>
            <a:r>
              <a:rPr lang="id-ID" dirty="0"/>
              <a:t>butir g, dan itulah sebabnya analisisnya deskriptif, bukan uji statistik.</a:t>
            </a:r>
          </a:p>
          <a:p>
            <a:r>
              <a:rPr lang="id-ID" dirty="0"/>
              <a:t>Kalau ditanya: rentang 1-3 jam adalah kondisi normal; 12 jam terjadi pada</a:t>
            </a:r>
          </a:p>
          <a:p>
            <a:r>
              <a:rPr lang="id-ID" dirty="0"/>
              <a:t>materi yang butuh riset produk dan beberapa kali revisi.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Keempat persoalan ini yang nanti dipetakan satu-satu ke rancangan sistem.</a:t>
            </a:r>
          </a:p>
          <a:p>
            <a:r>
              <a:rPr lang="id-ID" dirty="0"/>
              <a:t>Lama dijawab otomasi; tidak seragam dan generik dijawab profil merek</a:t>
            </a:r>
          </a:p>
          <a:p>
            <a:r>
              <a:rPr lang="id-ID" dirty="0"/>
              <a:t>terstruktur; tak tercatat dijawab tabel Generation.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Tiga pertanyaan, tiga tujuan, dua alat ukur. Pertanyaan pertama dijawab</a:t>
            </a:r>
          </a:p>
          <a:p>
            <a:r>
              <a:rPr lang="id-ID" dirty="0"/>
              <a:t>produk rancangan; kedua oleh lembar catat waktu; ketiga oleh rubrik.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Tujuan sengaja dibuat sejajar satu-satu dengan rumusan masalah.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Batasan yang paling mungkin ditanyakan penguji: kenapa kontribusi</a:t>
            </a:r>
          </a:p>
          <a:p>
            <a:r>
              <a:rPr lang="id-ID" dirty="0"/>
              <a:t>multi-agent tidak diisolasi. Jawabannya, antarmuka terpusat dan arsitektur</a:t>
            </a:r>
          </a:p>
          <a:p>
            <a:r>
              <a:rPr lang="id-ID" dirty="0"/>
              <a:t>agen diterapkan bersamaan, jadi keduanya tidak dapat dipisahkan secara</a:t>
            </a:r>
          </a:p>
          <a:p>
            <a:r>
              <a:rPr lang="id-ID" dirty="0"/>
              <a:t>jujur. Ini dinyatakan terbuka, bukan disembunyikan.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20 studi: 10 diuraikan naratif di 2.1, 10 diringkas pada Tabel 2.1.</a:t>
            </a:r>
          </a:p>
          <a:p>
            <a:r>
              <a:rPr lang="id-ID" dirty="0"/>
              <a:t>Temuan Wang dkk. (2025) paling penting buat penelitian ini — justru itu</a:t>
            </a:r>
          </a:p>
          <a:p>
            <a:r>
              <a:rPr lang="id-ID" dirty="0"/>
              <a:t>yang dijawab profil merek terstruktur: gaya dibuat eksplisit dan terbaca</a:t>
            </a:r>
          </a:p>
          <a:p>
            <a:r>
              <a:rPr lang="id-ID" dirty="0"/>
              <a:t>mesin, bukan dibiarkan tersirat.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Kalau penguji bertanya apa barunya, jawab dari slide ini. Bukan salah satu</a:t>
            </a:r>
          </a:p>
          <a:p>
            <a:r>
              <a:rPr lang="id-ID" dirty="0"/>
              <a:t>dari keempatnya — gabungan keempatnya, dalam konteks ritel berbahasa</a:t>
            </a:r>
          </a:p>
          <a:p>
            <a:r>
              <a:rPr lang="id-ID" dirty="0"/>
              <a:t>Indonesia.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Sembilan sub-bab landasan teori. Tidak perlu dibacakan satu-satu;</a:t>
            </a:r>
          </a:p>
          <a:p>
            <a:r>
              <a:rPr lang="id-ID" dirty="0"/>
              <a:t>sebut saja pengelompokannya lalu lanjut.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Alurnya lurus dari masalah ke hasil yang diharapkan. Gambar 2.1 menyusul.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Poin yang perlu ditekankan: AI sebenarnya sudah dipakai, tetapi lepas-lepas.</a:t>
            </a:r>
          </a:p>
          <a:p>
            <a:r>
              <a:rPr lang="id-ID" dirty="0"/>
              <a:t>Jadi penelitian ini bukan soal memperkenalkan AI, melainkan memberinya</a:t>
            </a:r>
          </a:p>
          <a:p>
            <a:r>
              <a:rPr lang="id-ID" dirty="0"/>
              <a:t>struktur dan konteks.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Aturan satu pintu ini bukan gaya-gayaan: kunci rahasia hanya ada di</a:t>
            </a:r>
          </a:p>
          <a:p>
            <a:r>
              <a:rPr lang="id-ID" dirty="0"/>
              <a:t>peladen, dan setiap permintaan bisa dicatat karena semuanya lewat satu</a:t>
            </a:r>
          </a:p>
          <a:p>
            <a:r>
              <a:rPr lang="id-ID" dirty="0"/>
              <a:t>tempat. Tanpa itu, pencatatan tidak dapat dijamin lengkap.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Ini pertanyaan yang paling mungkin diajukan penguji: apa bedanya dengan</a:t>
            </a:r>
          </a:p>
          <a:p>
            <a:r>
              <a:rPr lang="id-ID" dirty="0"/>
              <a:t>sekadar memanggil ChatGPT empat kali?</a:t>
            </a:r>
          </a:p>
          <a:p>
            <a:r>
              <a:rPr lang="id-ID" dirty="0"/>
              <a:t/>
            </a:r>
          </a:p>
          <a:p>
            <a:r>
              <a:rPr lang="id-ID" dirty="0"/>
              <a:t>Bedanya, tiap agen punya kontrak tertulis yang tetap dan terversi. Perintah</a:t>
            </a:r>
          </a:p>
          <a:p>
            <a:r>
              <a:rPr lang="id-ID" dirty="0"/>
              <a:t>tidak disusun ulang tiap kali oleh admin, melainkan sudah tertanam sebagai</a:t>
            </a:r>
          </a:p>
          <a:p>
            <a:r>
              <a:rPr lang="id-ID" dirty="0"/>
              <a:t>berkas. Isi SKILL.md dapat diperbaiki tanpa menyentuh kode backend, dan</a:t>
            </a:r>
          </a:p>
          <a:p>
            <a:r>
              <a:rPr lang="id-ID" dirty="0"/>
              <a:t>perbaikannya langsung berlaku pada panggilan berikutnya.</a:t>
            </a:r>
          </a:p>
          <a:p>
            <a:r>
              <a:rPr lang="id-ID" dirty="0"/>
              <a:t/>
            </a:r>
          </a:p>
          <a:p>
            <a:r>
              <a:rPr lang="id-ID" dirty="0"/>
              <a:t>Konsekuensi metodologis: yang diuji penelitian ini adalah rancangan</a:t>
            </a:r>
          </a:p>
          <a:p>
            <a:r>
              <a:rPr lang="id-ID" dirty="0"/>
              <a:t>pembagian tugas dan konteks, bukan model bahasanya — sesuai batasan 1.4</a:t>
            </a:r>
          </a:p>
          <a:p>
            <a:r>
              <a:rPr lang="id-ID" dirty="0"/>
              <a:t>butir d yang memperlakukan model sebagai kotak hitam.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Nama teknisnya sf-content-brief, sf-copywriting, sf-humanize, dan sf-ads.</a:t>
            </a:r>
          </a:p>
          <a:p>
            <a:r>
              <a:rPr lang="id-ID" dirty="0"/>
              <a:t>Pemisahannya bukan sekadar kerapian: tiap agen hanya membaca aturan yang</a:t>
            </a:r>
          </a:p>
          <a:p>
            <a:r>
              <a:rPr lang="id-ID" dirty="0"/>
              <a:t>relevan dengan tugasnya, sehingga instruksinya bisa spesifik dan panjang</a:t>
            </a:r>
          </a:p>
          <a:p>
            <a:r>
              <a:rPr lang="id-ID" dirty="0"/>
              <a:t>tanpa saling mengganggu. Satu perintah gabungan untuk keempat tugas akan</a:t>
            </a:r>
          </a:p>
          <a:p>
            <a:r>
              <a:rPr lang="id-ID" dirty="0"/>
              <a:t>menuntut kompromi.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Langkah 3 yang paling sering disalahpahami. Backend hanya mengirim kalimat</a:t>
            </a:r>
          </a:p>
          <a:p>
            <a:r>
              <a:rPr lang="id-ID" dirty="0"/>
              <a:t>pemicu singkat berisi nama skill dan data dalam bentuk JSON. Ia tidak</a:t>
            </a:r>
          </a:p>
          <a:p>
            <a:r>
              <a:rPr lang="id-ID" dirty="0"/>
              <a:t>memuat perintah kreatif sama sekali.</a:t>
            </a:r>
          </a:p>
          <a:p>
            <a:r>
              <a:rPr lang="id-ID" dirty="0"/>
              <a:t/>
            </a:r>
          </a:p>
          <a:p>
            <a:r>
              <a:rPr lang="id-ID" dirty="0"/>
              <a:t>Langkah 4: pemilihan agen dilakukan lewat penamaan model pada permintaan.</a:t>
            </a:r>
          </a:p>
          <a:p>
            <a:r>
              <a:rPr lang="id-ID" dirty="0"/>
              <a:t>Salah nama akan ditolak gerbang, jadi tidak mungkin diam-diam salah agen.</a:t>
            </a:r>
          </a:p>
          <a:p>
            <a:r>
              <a:rPr lang="id-ID" dirty="0"/>
              <a:t/>
            </a:r>
          </a:p>
          <a:p>
            <a:r>
              <a:rPr lang="id-ID" dirty="0"/>
              <a:t>Kalau keluaran bukan JSON yang sah, permintaan diulang sekali. Kalau masih</a:t>
            </a:r>
          </a:p>
          <a:p>
            <a:r>
              <a:rPr lang="id-ID" dirty="0"/>
              <a:t>gagal, pengguna menerima pesan yang dapat ditindaklanjuti — bukan jejak</a:t>
            </a:r>
          </a:p>
          <a:p>
            <a:r>
              <a:rPr lang="id-ID" dirty="0"/>
              <a:t>galat. Ini memenuhi kebutuhan non-fungsional keandalan pada 3.1.5.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Slide ini menjawab langsung temuan Wang dkk. (2025): model kesulitan meniru</a:t>
            </a:r>
          </a:p>
          <a:p>
            <a:r>
              <a:rPr lang="id-ID" dirty="0"/>
              <a:t>gaya yang tidak dinyatakan eksplisit. Di sini gaya dibuat eksplisit,</a:t>
            </a:r>
          </a:p>
          <a:p>
            <a:r>
              <a:rPr lang="id-ID" dirty="0"/>
              <a:t>terstruktur, dan tersimpan sebagai data — bukan tersirat dalam contoh.</a:t>
            </a:r>
          </a:p>
          <a:p>
            <a:r>
              <a:rPr lang="id-ID" dirty="0"/>
              <a:t/>
            </a:r>
          </a:p>
          <a:p>
            <a:r>
              <a:rPr lang="id-ID" dirty="0"/>
              <a:t>Karena profilnya data, ia dapat diubah pemilik merek lewat antarmuka tanpa</a:t>
            </a:r>
          </a:p>
          <a:p>
            <a:r>
              <a:rPr lang="id-ID" dirty="0"/>
              <a:t>menyentuh kode, dan dapat dipakai ulang untuk merek lain. Itu menjawab</a:t>
            </a:r>
          </a:p>
          <a:p>
            <a:r>
              <a:rPr lang="id-ID" dirty="0"/>
              <a:t>persoalan kelima pada identifikasi masalah.</a:t>
            </a:r>
          </a:p>
          <a:p>
            <a:r>
              <a:rPr lang="id-ID" dirty="0"/>
              <a:t/>
            </a:r>
          </a:p>
          <a:p>
            <a:r>
              <a:rPr lang="id-ID" dirty="0"/>
              <a:t>Aturan anti-jiplak penting untuk dijelaskan: tanpa itu, sistem cenderung</a:t>
            </a:r>
          </a:p>
          <a:p>
            <a:r>
              <a:rPr lang="id-ID" dirty="0"/>
              <a:t>menyalin ulang contoh naskah, sehingga tampak konsisten tetapi tidak</a:t>
            </a:r>
          </a:p>
          <a:p>
            <a:r>
              <a:rPr lang="id-ID" dirty="0"/>
              <a:t>menghasilkan gagasan baru.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Satu perintah menghasilkan beberapa materi sekaligus. Kalau dijalankan</a:t>
            </a:r>
          </a:p>
          <a:p>
            <a:r>
              <a:rPr lang="id-ID" dirty="0"/>
              <a:t>serentak di antarmuka, pengguna harus menunggu satu sampai dua menit dengan</a:t>
            </a:r>
          </a:p>
          <a:p>
            <a:r>
              <a:rPr lang="id-ID" dirty="0"/>
              <a:t>layar terkunci; karena itu dipindah ke latar.</a:t>
            </a:r>
          </a:p>
          <a:p>
            <a:r>
              <a:rPr lang="id-ID" dirty="0"/>
              <a:t/>
            </a:r>
          </a:p>
          <a:p>
            <a:r>
              <a:rPr lang="id-ID" dirty="0"/>
              <a:t>Dua ringkasan digarap bersamaan karena keduanya tidak saling bergantung.</a:t>
            </a:r>
          </a:p>
          <a:p>
            <a:r>
              <a:rPr lang="id-ID" dirty="0"/>
              <a:t>Naskah dan iklan menyusul berurutan karena memakai hasil sebelumnya.</a:t>
            </a:r>
          </a:p>
          <a:p>
            <a:r>
              <a:rPr lang="id-ID" dirty="0"/>
              <a:t/>
            </a:r>
          </a:p>
          <a:p>
            <a:r>
              <a:rPr lang="id-ID" dirty="0"/>
              <a:t>Kalau gagal, statusnya menjadi gagal berikut pesannya — tidak menggantung</a:t>
            </a:r>
          </a:p>
          <a:p>
            <a:r>
              <a:rPr lang="id-ID" dirty="0"/>
              <a:t>dalam keadaan sedang diproses selamanya.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Analisis waktu memakai median dan rentang, bukan rata-rata, karena data</a:t>
            </a:r>
          </a:p>
          <a:p>
            <a:r>
              <a:rPr lang="id-ID" dirty="0"/>
              <a:t>proses lama sebarannya lebar dan mudah terdistorsi kasus 12 jam itu.</a:t>
            </a:r>
          </a:p>
          <a:p>
            <a:r>
              <a:rPr lang="id-ID" dirty="0"/>
              <a:t>Tidak ada uji statistik parametrik karena syarat pengukuran setara pada</a:t>
            </a:r>
          </a:p>
          <a:p>
            <a:r>
              <a:rPr lang="id-ID" dirty="0"/>
              <a:t>kedua kelompok tidak terpenuhi.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Kelima dimensi diturunkan dari bidang profil merek pada sistem, sehingga</a:t>
            </a:r>
          </a:p>
          <a:p>
            <a:r>
              <a:rPr lang="id-ID" dirty="0"/>
              <a:t>penilaian dapat ditelusuri ke acuan yang benar-benar dipakai saat naskah</a:t>
            </a:r>
          </a:p>
          <a:p>
            <a:r>
              <a:rPr lang="id-ID" dirty="0"/>
              <a:t>dihasilkan. Deskriptor tiap tingkat ditulis operasional agar penilai tidak</a:t>
            </a:r>
          </a:p>
          <a:p>
            <a:r>
              <a:rPr lang="id-ID" dirty="0"/>
              <a:t>menafsirkan sendiri batas antar-tingkat.</a:t>
            </a:r>
          </a:p>
          <a:p>
            <a:r>
              <a:rPr lang="id-ID" dirty="0"/>
              <a:t/>
            </a:r>
          </a:p>
          <a:p>
            <a:r>
              <a:rPr lang="id-ID" dirty="0"/>
              <a:t>Yang masih terbuka dan jujur disampaikan: batas kategori bersifat usulan,</a:t>
            </a:r>
          </a:p>
          <a:p>
            <a:r>
              <a:rPr lang="id-ID" dirty="0"/>
              <a:t>dan validitas isinya perlu ditelaah pembimbing sebelum penilaian dimulai.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Ini keberatan yang paling mungkin diajukan, jadi lebih baik disampaikan</a:t>
            </a:r>
          </a:p>
          <a:p>
            <a:r>
              <a:rPr lang="id-ID" dirty="0"/>
              <a:t>lebih dulu daripada menunggu ditanya.</a:t>
            </a:r>
          </a:p>
          <a:p>
            <a:r>
              <a:rPr lang="id-ID" dirty="0"/>
              <a:t/>
            </a:r>
          </a:p>
          <a:p>
            <a:r>
              <a:rPr lang="id-ID" dirty="0"/>
              <a:t>Yang belum ditetapkan dan sebaiknya diakui terbuka: jumlah naskah yang</a:t>
            </a:r>
          </a:p>
          <a:p>
            <a:r>
              <a:rPr lang="id-ID" dirty="0"/>
              <a:t>diuji serta jumlah dan asal penilai. Keduanya menunggu materi terkumpul.</a:t>
            </a:r>
          </a:p>
          <a:p>
            <a:r>
              <a:rPr lang="id-ID" dirty="0"/>
              <a:t>Penilai dari luar tim jauh lebih kuat menahan keberatan soal keberpihakan.</a:t>
            </a:r>
          </a:p>
          <a:p>
            <a:r>
              <a:rPr lang="id-ID" dirty="0"/>
              <a:t/>
            </a:r>
          </a:p>
          <a:p>
            <a:r>
              <a:rPr lang="id-ID" dirty="0"/>
              <a:t>Pengujian fungsional memakai metode black box terhadap Tabel 3.1.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Kenapa RAD, bukan Waterfall: putaran umpan baliknya nyata. Konteks merek</a:t>
            </a:r>
          </a:p>
          <a:p>
            <a:r>
              <a:rPr lang="id-ID" dirty="0"/>
              <a:t>baru ditambahkan setelah keluaran prototipe dinilai masih terlalu umum —</a:t>
            </a:r>
          </a:p>
          <a:p>
            <a:r>
              <a:rPr lang="id-ID" dirty="0"/>
              <a:t>itu perubahan rancangan di tengah jalan, yang justru ciri RAD.</a:t>
            </a:r>
          </a:p>
          <a:p>
            <a:r>
              <a:rPr lang="id-ID" dirty="0"/>
              <a:t>Rentang pengerjaan 60 hari juga cocok dengan siklus pendek RAD.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ta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Lima bulan, September 2026 sampai Januari 2027.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officeDocument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officeDocument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dang 2"/>
          <p:cNvSpPr/>
          <p:nvPr/>
        </p:nvSpPr>
        <p:spPr>
          <a:xfrm>
            <a:off x="0" y="0"/>
            <a:ext cx="12192000" cy="20955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idang 3"/>
          <p:cNvSpPr/>
          <p:nvPr/>
        </p:nvSpPr>
        <p:spPr>
          <a:xfrm>
            <a:off x="0" y="6103620"/>
            <a:ext cx="12192000" cy="754380"/>
          </a:xfrm>
          <a:prstGeom prst="rect">
            <a:avLst/>
          </a:prstGeom>
          <a:solidFill>
            <a:srgbClr val="1232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838200" y="960120"/>
            <a:ext cx="105156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spc="300" dirty="0">
                <a:solidFill>
                  <a:srgbClr val="E4572E"/>
                </a:solidFill>
                <a:latin typeface="Calibri"/>
                <a:cs typeface="Calibri"/>
              </a:rPr>
              <a:t>PROPOSAL SKRIPSI</a:t>
            </a:r>
          </a:p>
        </p:txBody>
      </p:sp>
      <p:sp>
        <p:nvSpPr>
          <p:cNvPr id="5" name="Teks 5"/>
          <p:cNvSpPr txBox="1"/>
          <p:nvPr/>
        </p:nvSpPr>
        <p:spPr>
          <a:xfrm>
            <a:off x="838200" y="1420368"/>
            <a:ext cx="9052560" cy="2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2324F"/>
                </a:solidFill>
                <a:latin typeface="Calibri"/>
                <a:cs typeface="Calibri"/>
              </a:rPr>
              <a:t>Perancangan Sistem Otomasi Produksi Konten Pemasaran Berbasis </a:t>
            </a:r>
            <a:r>
              <a:rPr lang="id-ID" sz="3000" b="1" i="1" dirty="0">
                <a:solidFill>
                  <a:srgbClr val="12324F"/>
                </a:solidFill>
                <a:latin typeface="Calibri"/>
                <a:cs typeface="Calibri"/>
              </a:rPr>
              <a:t>Multi-Agent</a:t>
            </a:r>
            <a:r>
              <a:rPr lang="id-ID" sz="3000" b="1" dirty="0">
                <a:solidFill>
                  <a:srgbClr val="12324F"/>
                </a:solidFill>
                <a:latin typeface="Calibri"/>
                <a:cs typeface="Calibri"/>
              </a:rPr>
              <a:t> AI untuk Meningkatkan Efisiensi dan Konsistensi </a:t>
            </a:r>
            <a:r>
              <a:rPr lang="id-ID" sz="3000" b="1" i="1" dirty="0">
                <a:solidFill>
                  <a:srgbClr val="12324F"/>
                </a:solidFill>
                <a:latin typeface="Calibri"/>
                <a:cs typeface="Calibri"/>
              </a:rPr>
              <a:t>Brand Voice</a:t>
            </a:r>
          </a:p>
        </p:txBody>
      </p:sp>
      <p:sp>
        <p:nvSpPr>
          <p:cNvPr id="6" name="Teks 6"/>
          <p:cNvSpPr txBox="1"/>
          <p:nvPr/>
        </p:nvSpPr>
        <p:spPr>
          <a:xfrm>
            <a:off x="838200" y="3810000"/>
            <a:ext cx="105156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700" dirty="0">
                <a:solidFill>
                  <a:srgbClr val="233642"/>
                </a:solidFill>
                <a:latin typeface="Calibri"/>
                <a:cs typeface="Calibri"/>
              </a:rPr>
              <a:t>Studi Kasus: SneakersFlash</a:t>
            </a:r>
          </a:p>
        </p:txBody>
      </p:sp>
      <p:sp>
        <p:nvSpPr>
          <p:cNvPr id="7" name="Bidang 7"/>
          <p:cNvSpPr/>
          <p:nvPr/>
        </p:nvSpPr>
        <p:spPr>
          <a:xfrm>
            <a:off x="838200" y="434340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ks 8"/>
          <p:cNvSpPr txBox="1"/>
          <p:nvPr/>
        </p:nvSpPr>
        <p:spPr>
          <a:xfrm>
            <a:off x="838200" y="4526280"/>
            <a:ext cx="8915400" cy="1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800" b="1" dirty="0">
                <a:solidFill>
                  <a:srgbClr val="12324F"/>
                </a:solidFill>
                <a:latin typeface="Calibri"/>
                <a:cs typeface="Calibri"/>
              </a:rPr>
              <a:t>Muhammad Faizal Triasa</a:t>
            </a:r>
          </a:p>
          <a:p>
            <a:pPr marL="0" indent="0" algn="l">
              <a:lnSpc>
                <a:spcPct val="102000"/>
              </a:lnSpc>
              <a:spcBef>
                <a:spcPts val="200"/>
              </a:spcBef>
              <a:buNone/>
            </a:pPr>
            <a:r>
              <a:rPr lang="id-ID" sz="1500" dirty="0">
                <a:solidFill>
                  <a:srgbClr val="233642"/>
                </a:solidFill>
                <a:latin typeface="Calibri"/>
                <a:cs typeface="Calibri"/>
              </a:rPr>
              <a:t>NIM 231011701215</a:t>
            </a:r>
          </a:p>
          <a:p>
            <a:pPr marL="0" indent="0" algn="l">
              <a:lnSpc>
                <a:spcPct val="102000"/>
              </a:lnSpc>
              <a:spcBef>
                <a:spcPts val="200"/>
              </a:spcBef>
              <a:buNone/>
            </a:pPr>
            <a:r>
              <a:rPr lang="id-ID" sz="1400" dirty="0">
                <a:solidFill>
                  <a:srgbClr val="6B7A85"/>
                </a:solidFill>
                <a:latin typeface="Calibri"/>
                <a:cs typeface="Calibri"/>
              </a:rPr>
              <a:t>Program Studi Sistem Informasi S-1 · Fakultas Ilmu Komputer</a:t>
            </a:r>
          </a:p>
          <a:p>
            <a:pPr marL="0" indent="0"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id-ID" sz="1400" dirty="0">
                <a:solidFill>
                  <a:srgbClr val="6B7A85"/>
                </a:solidFill>
                <a:latin typeface="Calibri"/>
                <a:cs typeface="Calibri"/>
              </a:rPr>
              <a:t>Dosen Pembimbing: [nama dan gelar pembimbing]</a:t>
            </a:r>
          </a:p>
        </p:txBody>
      </p:sp>
      <p:sp>
        <p:nvSpPr>
          <p:cNvPr id="9" name="Bidang 9"/>
          <p:cNvSpPr/>
          <p:nvPr/>
        </p:nvSpPr>
        <p:spPr>
          <a:xfrm>
            <a:off x="10165080" y="960120"/>
            <a:ext cx="1188720" cy="1188720"/>
          </a:xfrm>
          <a:prstGeom prst="rect">
            <a:avLst/>
          </a:prstGeom>
          <a:solidFill>
            <a:srgbClr val="F2F5F7"/>
          </a:solidFill>
          <a:ln w="12700">
            <a:solidFill>
              <a:srgbClr val="6B7A85"/>
            </a:solidFill>
            <a:prstDash val="dash"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10302240" y="960120"/>
            <a:ext cx="91440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dirty="0">
                <a:solidFill>
                  <a:srgbClr val="6B7A85"/>
                </a:solidFill>
                <a:latin typeface="Calibri"/>
                <a:cs typeface="Calibri"/>
              </a:rPr>
              <a:t>[ sisipkan logo Unpam 4 x 4 cm ]</a:t>
            </a:r>
          </a:p>
        </p:txBody>
      </p:sp>
      <p:sp>
        <p:nvSpPr>
          <p:cNvPr id="11" name="Teks 11"/>
          <p:cNvSpPr txBox="1"/>
          <p:nvPr/>
        </p:nvSpPr>
        <p:spPr>
          <a:xfrm>
            <a:off x="838200" y="635254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  <a:latin typeface="Calibri"/>
                <a:cs typeface="Calibri"/>
              </a:rPr>
              <a:t>Universitas Pamulang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Alur Presentasi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838200" y="1508760"/>
            <a:ext cx="10515600" cy="4589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900" dirty="0">
                <a:solidFill>
                  <a:srgbClr val="233642"/>
                </a:solidFill>
                <a:latin typeface="Calibri"/>
                <a:cs typeface="Calibri"/>
              </a:rPr>
              <a:t>Masalah dan pertanyaan penelitian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900" dirty="0">
                <a:solidFill>
                  <a:srgbClr val="233642"/>
                </a:solidFill>
                <a:latin typeface="Calibri"/>
                <a:cs typeface="Calibri"/>
              </a:rPr>
              <a:t>Celah riset dan kerangka berpikir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900" dirty="0">
                <a:solidFill>
                  <a:srgbClr val="233642"/>
                </a:solidFill>
                <a:latin typeface="Calibri"/>
                <a:cs typeface="Calibri"/>
              </a:rPr>
              <a:t>Cara sistem bekerja sebagai </a:t>
            </a:r>
            <a:r>
              <a:rPr lang="id-ID" sz="1900" i="1" dirty="0">
                <a:solidFill>
                  <a:srgbClr val="233642"/>
                </a:solidFill>
                <a:latin typeface="Calibri"/>
                <a:cs typeface="Calibri"/>
              </a:rPr>
              <a:t>multi-agent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900" dirty="0">
                <a:solidFill>
                  <a:srgbClr val="233642"/>
                </a:solidFill>
                <a:latin typeface="Calibri"/>
                <a:cs typeface="Calibri"/>
              </a:rPr>
              <a:t>Metode penelitian dan rancangan pengujian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900" dirty="0">
                <a:solidFill>
                  <a:srgbClr val="233642"/>
                </a:solidFill>
                <a:latin typeface="Calibri"/>
                <a:cs typeface="Calibri"/>
              </a:rPr>
              <a:t>Jadwal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ks 6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7" name="Teks 7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Masalah di SneakersFlash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 · 1.1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508760"/>
            <a:ext cx="2423160" cy="17373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idang 6"/>
          <p:cNvSpPr/>
          <p:nvPr/>
        </p:nvSpPr>
        <p:spPr>
          <a:xfrm>
            <a:off x="838200" y="1508760"/>
            <a:ext cx="242316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975360" y="182880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2324F"/>
                </a:solidFill>
                <a:latin typeface="Calibri"/>
                <a:cs typeface="Calibri"/>
              </a:rPr>
              <a:t>1–3 jam</a:t>
            </a:r>
          </a:p>
        </p:txBody>
      </p:sp>
      <p:sp>
        <p:nvSpPr>
          <p:cNvPr id="8" name="Teks 8"/>
          <p:cNvSpPr txBox="1"/>
          <p:nvPr/>
        </p:nvSpPr>
        <p:spPr>
          <a:xfrm>
            <a:off x="975360" y="25603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50" dirty="0">
                <a:solidFill>
                  <a:srgbClr val="6B7A85"/>
                </a:solidFill>
                <a:latin typeface="Calibri"/>
                <a:cs typeface="Calibri"/>
              </a:rPr>
              <a:t>penyiapan satu materi konten</a:t>
            </a:r>
          </a:p>
        </p:txBody>
      </p:sp>
      <p:sp>
        <p:nvSpPr>
          <p:cNvPr id="9" name="Bidang 9"/>
          <p:cNvSpPr/>
          <p:nvPr/>
        </p:nvSpPr>
        <p:spPr>
          <a:xfrm>
            <a:off x="3535680" y="1508760"/>
            <a:ext cx="2423160" cy="17373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idang 10"/>
          <p:cNvSpPr/>
          <p:nvPr/>
        </p:nvSpPr>
        <p:spPr>
          <a:xfrm>
            <a:off x="3535680" y="1508760"/>
            <a:ext cx="242316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ks 11"/>
          <p:cNvSpPr txBox="1"/>
          <p:nvPr/>
        </p:nvSpPr>
        <p:spPr>
          <a:xfrm>
            <a:off x="3672840" y="182880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2324F"/>
                </a:solidFill>
                <a:latin typeface="Calibri"/>
                <a:cs typeface="Calibri"/>
              </a:rPr>
              <a:t>12 jam</a:t>
            </a:r>
          </a:p>
        </p:txBody>
      </p:sp>
      <p:sp>
        <p:nvSpPr>
          <p:cNvPr id="12" name="Teks 12"/>
          <p:cNvSpPr txBox="1"/>
          <p:nvPr/>
        </p:nvSpPr>
        <p:spPr>
          <a:xfrm>
            <a:off x="3672840" y="25603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50" dirty="0">
                <a:solidFill>
                  <a:srgbClr val="6B7A85"/>
                </a:solidFill>
                <a:latin typeface="Calibri"/>
                <a:cs typeface="Calibri"/>
              </a:rPr>
              <a:t>kasus ekstrem yang pernah terjadi</a:t>
            </a:r>
          </a:p>
        </p:txBody>
      </p:sp>
      <p:sp>
        <p:nvSpPr>
          <p:cNvPr id="13" name="Bidang 13"/>
          <p:cNvSpPr/>
          <p:nvPr/>
        </p:nvSpPr>
        <p:spPr>
          <a:xfrm>
            <a:off x="6233160" y="1508760"/>
            <a:ext cx="2423160" cy="17373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Bidang 14"/>
          <p:cNvSpPr/>
          <p:nvPr/>
        </p:nvSpPr>
        <p:spPr>
          <a:xfrm>
            <a:off x="6233160" y="1508760"/>
            <a:ext cx="242316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ks 15"/>
          <p:cNvSpPr txBox="1"/>
          <p:nvPr/>
        </p:nvSpPr>
        <p:spPr>
          <a:xfrm>
            <a:off x="6370320" y="182880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2324F"/>
                </a:solidFill>
                <a:latin typeface="Calibri"/>
                <a:cs typeface="Calibri"/>
              </a:rPr>
              <a:t>5 materi</a:t>
            </a:r>
          </a:p>
        </p:txBody>
      </p:sp>
      <p:sp>
        <p:nvSpPr>
          <p:cNvPr id="16" name="Teks 16"/>
          <p:cNvSpPr txBox="1"/>
          <p:nvPr/>
        </p:nvSpPr>
        <p:spPr>
          <a:xfrm>
            <a:off x="6370320" y="25603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50" dirty="0">
                <a:solidFill>
                  <a:srgbClr val="6B7A85"/>
                </a:solidFill>
                <a:latin typeface="Calibri"/>
                <a:cs typeface="Calibri"/>
              </a:rPr>
              <a:t>kebutuhan penerbitan per hari</a:t>
            </a:r>
          </a:p>
        </p:txBody>
      </p:sp>
      <p:sp>
        <p:nvSpPr>
          <p:cNvPr id="17" name="Bidang 17"/>
          <p:cNvSpPr/>
          <p:nvPr/>
        </p:nvSpPr>
        <p:spPr>
          <a:xfrm>
            <a:off x="8930640" y="1508760"/>
            <a:ext cx="2423160" cy="17373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Bidang 18"/>
          <p:cNvSpPr/>
          <p:nvPr/>
        </p:nvSpPr>
        <p:spPr>
          <a:xfrm>
            <a:off x="8930640" y="1508760"/>
            <a:ext cx="242316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ks 19"/>
          <p:cNvSpPr txBox="1"/>
          <p:nvPr/>
        </p:nvSpPr>
        <p:spPr>
          <a:xfrm>
            <a:off x="9067800" y="182880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3000" b="1" dirty="0">
                <a:solidFill>
                  <a:srgbClr val="12324F"/>
                </a:solidFill>
                <a:latin typeface="Calibri"/>
                <a:cs typeface="Calibri"/>
              </a:rPr>
              <a:t>5–15 jam</a:t>
            </a:r>
          </a:p>
        </p:txBody>
      </p:sp>
      <p:sp>
        <p:nvSpPr>
          <p:cNvPr id="20" name="Teks 20"/>
          <p:cNvSpPr txBox="1"/>
          <p:nvPr/>
        </p:nvSpPr>
        <p:spPr>
          <a:xfrm>
            <a:off x="9067800" y="25603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50" dirty="0">
                <a:solidFill>
                  <a:srgbClr val="6B7A85"/>
                </a:solidFill>
                <a:latin typeface="Calibri"/>
                <a:cs typeface="Calibri"/>
              </a:rPr>
              <a:t>beban kerja harian yang timbul</a:t>
            </a:r>
          </a:p>
        </p:txBody>
      </p:sp>
      <p:sp>
        <p:nvSpPr>
          <p:cNvPr id="21" name="Teks 21"/>
          <p:cNvSpPr txBox="1"/>
          <p:nvPr/>
        </p:nvSpPr>
        <p:spPr>
          <a:xfrm>
            <a:off x="838200" y="3703320"/>
            <a:ext cx="10515600" cy="1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Melampaui jam kerja yang tersedia.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Rentangnya lebar, jadi waktu selesai tidak dapat diperkirakan — menyusun jadwal peluncuran menjadi sulit.</a:t>
            </a:r>
          </a:p>
        </p:txBody>
      </p:sp>
      <p:sp>
        <p:nvSpPr>
          <p:cNvPr id="22" name="Bidang 22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ks 23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24" name="Teks 24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Empat Persoalan yang Ditemukan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 · 1.2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508760"/>
            <a:ext cx="242316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idang 6"/>
          <p:cNvSpPr/>
          <p:nvPr/>
        </p:nvSpPr>
        <p:spPr>
          <a:xfrm>
            <a:off x="83820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1066800" y="1691640"/>
            <a:ext cx="201168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2324F"/>
                </a:solidFill>
                <a:latin typeface="Calibri"/>
                <a:cs typeface="Calibri"/>
              </a:rPr>
              <a:t>Lama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Seluruh tahapan dikerjakan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manual, dari awal, tiap kali.</a:t>
            </a:r>
          </a:p>
        </p:txBody>
      </p:sp>
      <p:sp>
        <p:nvSpPr>
          <p:cNvPr id="8" name="Bidang 8"/>
          <p:cNvSpPr/>
          <p:nvPr/>
        </p:nvSpPr>
        <p:spPr>
          <a:xfrm>
            <a:off x="3535680" y="1508760"/>
            <a:ext cx="242316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idang 9"/>
          <p:cNvSpPr/>
          <p:nvPr/>
        </p:nvSpPr>
        <p:spPr>
          <a:xfrm>
            <a:off x="353568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3764280" y="1691640"/>
            <a:ext cx="201168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2324F"/>
                </a:solidFill>
                <a:latin typeface="Calibri"/>
                <a:cs typeface="Calibri"/>
              </a:rPr>
              <a:t>Tidak seragam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Gaya bahasa berbeda antar admin.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Standar merek hanya kesepakatan lisan.</a:t>
            </a:r>
          </a:p>
        </p:txBody>
      </p:sp>
      <p:sp>
        <p:nvSpPr>
          <p:cNvPr id="11" name="Bidang 11"/>
          <p:cNvSpPr/>
          <p:nvPr/>
        </p:nvSpPr>
        <p:spPr>
          <a:xfrm>
            <a:off x="6233160" y="1508760"/>
            <a:ext cx="242316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Bidang 12"/>
          <p:cNvSpPr/>
          <p:nvPr/>
        </p:nvSpPr>
        <p:spPr>
          <a:xfrm>
            <a:off x="623316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ks 13"/>
          <p:cNvSpPr txBox="1"/>
          <p:nvPr/>
        </p:nvSpPr>
        <p:spPr>
          <a:xfrm>
            <a:off x="6461760" y="1691640"/>
            <a:ext cx="201168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2324F"/>
                </a:solidFill>
                <a:latin typeface="Calibri"/>
                <a:cs typeface="Calibri"/>
              </a:rPr>
              <a:t>Generik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Perintah ke AI tanpa konteks merek.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Keluaran masih perlu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penyuntingan panjang.</a:t>
            </a:r>
          </a:p>
        </p:txBody>
      </p:sp>
      <p:sp>
        <p:nvSpPr>
          <p:cNvPr id="14" name="Bidang 14"/>
          <p:cNvSpPr/>
          <p:nvPr/>
        </p:nvSpPr>
        <p:spPr>
          <a:xfrm>
            <a:off x="8930640" y="1508760"/>
            <a:ext cx="242316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Bidang 15"/>
          <p:cNvSpPr/>
          <p:nvPr/>
        </p:nvSpPr>
        <p:spPr>
          <a:xfrm>
            <a:off x="893064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ks 16"/>
          <p:cNvSpPr txBox="1"/>
          <p:nvPr/>
        </p:nvSpPr>
        <p:spPr>
          <a:xfrm>
            <a:off x="9159240" y="1691640"/>
            <a:ext cx="201168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2324F"/>
                </a:solidFill>
                <a:latin typeface="Calibri"/>
                <a:cs typeface="Calibri"/>
              </a:rPr>
              <a:t>Tak tercatat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Materi yang sudah terbit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tidak dapat ditelusuri kembali.</a:t>
            </a:r>
          </a:p>
        </p:txBody>
      </p:sp>
      <p:sp>
        <p:nvSpPr>
          <p:cNvPr id="17" name="Teks 17"/>
          <p:cNvSpPr txBox="1"/>
          <p:nvPr/>
        </p:nvSpPr>
        <p:spPr>
          <a:xfrm>
            <a:off x="838200" y="4206240"/>
            <a:ext cx="105156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600"/>
              </a:spcBef>
              <a:buNone/>
            </a:pPr>
            <a:r>
              <a:rPr lang="id-ID" sz="1400" dirty="0">
                <a:solidFill>
                  <a:srgbClr val="233642"/>
                </a:solidFill>
                <a:latin typeface="Calibri"/>
                <a:cs typeface="Calibri"/>
              </a:rPr>
              <a:t>Persoalan kelima: standar merek yang berlaku belum dapat dipakai ulang untuk merek lain.</a:t>
            </a:r>
          </a:p>
        </p:txBody>
      </p:sp>
      <p:sp>
        <p:nvSpPr>
          <p:cNvPr id="18" name="Bidang 18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ks 19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20" name="Teks 20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Rumusan Masalah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 · 1.3</a:t>
            </a:r>
          </a:p>
        </p:txBody>
      </p:sp>
      <p:sp>
        <p:nvSpPr>
          <p:cNvPr id="5" name="Teks 5"/>
          <p:cNvSpPr txBox="1"/>
          <p:nvPr/>
        </p:nvSpPr>
        <p:spPr>
          <a:xfrm>
            <a:off x="838200" y="1508760"/>
            <a:ext cx="10515600" cy="4589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900" dirty="0">
                <a:solidFill>
                  <a:srgbClr val="233642"/>
                </a:solidFill>
                <a:latin typeface="Calibri"/>
                <a:cs typeface="Calibri"/>
              </a:rPr>
              <a:t>Bagaimana merancang sistemnya?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900" dirty="0">
                <a:solidFill>
                  <a:srgbClr val="233642"/>
                </a:solidFill>
                <a:latin typeface="Calibri"/>
                <a:cs typeface="Calibri"/>
              </a:rPr>
              <a:t>Bagaimana pengaruhnya terhadap efisiensi waktu?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900" dirty="0">
                <a:solidFill>
                  <a:srgbClr val="233642"/>
                </a:solidFill>
                <a:latin typeface="Calibri"/>
                <a:cs typeface="Calibri"/>
              </a:rPr>
              <a:t>Sejauh mana profil merek menjaga konsistensi </a:t>
            </a:r>
            <a:r>
              <a:rPr lang="id-ID" sz="1900" i="1" dirty="0">
                <a:solidFill>
                  <a:srgbClr val="233642"/>
                </a:solidFill>
                <a:latin typeface="Calibri"/>
                <a:cs typeface="Calibri"/>
              </a:rPr>
              <a:t>brand voice</a:t>
            </a:r>
            <a:r>
              <a:rPr lang="id-ID" sz="1900" dirty="0">
                <a:solidFill>
                  <a:srgbClr val="233642"/>
                </a:solidFill>
                <a:latin typeface="Calibri"/>
                <a:cs typeface="Calibri"/>
              </a:rPr>
              <a:t>?</a:t>
            </a:r>
          </a:p>
        </p:txBody>
      </p:sp>
      <p:sp>
        <p:nvSpPr>
          <p:cNvPr id="6" name="Bidang 6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8" name="Teks 8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Tujuan dan Manfaat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 · 1.5 dan 1.6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508760"/>
            <a:ext cx="4983480" cy="41148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ks 6"/>
          <p:cNvSpPr txBox="1"/>
          <p:nvPr/>
        </p:nvSpPr>
        <p:spPr>
          <a:xfrm>
            <a:off x="838200" y="1645920"/>
            <a:ext cx="498348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spc="100" dirty="0">
                <a:solidFill>
                  <a:srgbClr val="E4572E"/>
                </a:solidFill>
                <a:latin typeface="Calibri"/>
                <a:cs typeface="Calibri"/>
              </a:rPr>
              <a:t>Tujuan</a:t>
            </a:r>
          </a:p>
        </p:txBody>
      </p:sp>
      <p:sp>
        <p:nvSpPr>
          <p:cNvPr id="7" name="Teks 7"/>
          <p:cNvSpPr txBox="1"/>
          <p:nvPr/>
        </p:nvSpPr>
        <p:spPr>
          <a:xfrm>
            <a:off x="838200" y="2057400"/>
            <a:ext cx="4983480" cy="4009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Merancang dan membangun sistemnya.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Mengukur pengaruhnya pada efisiensi waktu.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Mengevaluasi konsistensi </a:t>
            </a:r>
            <a:r>
              <a:rPr lang="id-ID" sz="1550" i="1" dirty="0">
                <a:solidFill>
                  <a:srgbClr val="233642"/>
                </a:solidFill>
                <a:latin typeface="Calibri"/>
                <a:cs typeface="Calibri"/>
              </a:rPr>
              <a:t>brand voice</a:t>
            </a: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8" name="Bidang 8"/>
          <p:cNvSpPr/>
          <p:nvPr/>
        </p:nvSpPr>
        <p:spPr>
          <a:xfrm>
            <a:off x="6370320" y="1508760"/>
            <a:ext cx="4983480" cy="41148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ks 9"/>
          <p:cNvSpPr txBox="1"/>
          <p:nvPr/>
        </p:nvSpPr>
        <p:spPr>
          <a:xfrm>
            <a:off x="6370320" y="1645920"/>
            <a:ext cx="498348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spc="100" dirty="0">
                <a:solidFill>
                  <a:srgbClr val="E4572E"/>
                </a:solidFill>
                <a:latin typeface="Calibri"/>
                <a:cs typeface="Calibri"/>
              </a:rPr>
              <a:t>Manfaat</a:t>
            </a:r>
          </a:p>
        </p:txBody>
      </p:sp>
      <p:sp>
        <p:nvSpPr>
          <p:cNvPr id="10" name="Teks 10"/>
          <p:cNvSpPr txBox="1"/>
          <p:nvPr/>
        </p:nvSpPr>
        <p:spPr>
          <a:xfrm>
            <a:off x="6370320" y="2057400"/>
            <a:ext cx="4983480" cy="4009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50" i="1" dirty="0">
                <a:solidFill>
                  <a:srgbClr val="233642"/>
                </a:solidFill>
                <a:latin typeface="Calibri"/>
                <a:cs typeface="Calibri"/>
              </a:rPr>
              <a:t>Universitas</a:t>
            </a: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 — rujukan penerapan AI generatif pada proses bisnis nyata.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50" i="1" dirty="0">
                <a:solidFill>
                  <a:srgbClr val="233642"/>
                </a:solidFill>
                <a:latin typeface="Calibri"/>
                <a:cs typeface="Calibri"/>
              </a:rPr>
              <a:t>Instansi</a:t>
            </a: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 — waktu lebih pendek, identitas merek seragam, ada jejak pencatatan.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50" i="1" dirty="0">
                <a:solidFill>
                  <a:srgbClr val="233642"/>
                </a:solidFill>
                <a:latin typeface="Calibri"/>
                <a:cs typeface="Calibri"/>
              </a:rPr>
              <a:t>Penulis</a:t>
            </a: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 — menerapkan analisis dan perancangan sistem pada masalah nyata.</a:t>
            </a:r>
          </a:p>
        </p:txBody>
      </p:sp>
      <p:sp>
        <p:nvSpPr>
          <p:cNvPr id="11" name="Bidang 11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ks 12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3" name="Teks 13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Batasan Masalah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 · 1.4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508760"/>
            <a:ext cx="4983480" cy="41148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ks 6"/>
          <p:cNvSpPr txBox="1"/>
          <p:nvPr/>
        </p:nvSpPr>
        <p:spPr>
          <a:xfrm>
            <a:off x="838200" y="1645920"/>
            <a:ext cx="498348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spc="100" dirty="0">
                <a:solidFill>
                  <a:srgbClr val="E4572E"/>
                </a:solidFill>
                <a:latin typeface="Calibri"/>
                <a:cs typeface="Calibri"/>
              </a:rPr>
              <a:t>Lingkup</a:t>
            </a:r>
          </a:p>
        </p:txBody>
      </p:sp>
      <p:sp>
        <p:nvSpPr>
          <p:cNvPr id="7" name="Teks 7"/>
          <p:cNvSpPr txBox="1"/>
          <p:nvPr/>
        </p:nvSpPr>
        <p:spPr>
          <a:xfrm>
            <a:off x="838200" y="2057400"/>
            <a:ext cx="4983480" cy="4009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00" dirty="0">
                <a:solidFill>
                  <a:srgbClr val="233642"/>
                </a:solidFill>
                <a:latin typeface="Calibri"/>
                <a:cs typeface="Calibri"/>
              </a:rPr>
              <a:t>Satu profil merek aktif.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00" dirty="0">
                <a:solidFill>
                  <a:srgbClr val="233642"/>
                </a:solidFill>
                <a:latin typeface="Calibri"/>
                <a:cs typeface="Calibri"/>
              </a:rPr>
              <a:t>Status </a:t>
            </a:r>
            <a:r>
              <a:rPr lang="id-ID" sz="1500" i="1" dirty="0">
                <a:solidFill>
                  <a:srgbClr val="233642"/>
                </a:solidFill>
                <a:latin typeface="Calibri"/>
                <a:cs typeface="Calibri"/>
              </a:rPr>
              <a:t>prototipe</a:t>
            </a:r>
            <a:r>
              <a:rPr lang="id-ID" sz="1500" dirty="0">
                <a:solidFill>
                  <a:srgbClr val="233642"/>
                </a:solidFill>
                <a:latin typeface="Calibri"/>
                <a:cs typeface="Calibri"/>
              </a:rPr>
              <a:t>, masih diuji — belum operasional harian.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00" dirty="0">
                <a:solidFill>
                  <a:srgbClr val="233642"/>
                </a:solidFill>
                <a:latin typeface="Calibri"/>
                <a:cs typeface="Calibri"/>
              </a:rPr>
              <a:t>Hanya modul produksi konten.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00" dirty="0">
                <a:solidFill>
                  <a:srgbClr val="233642"/>
                </a:solidFill>
                <a:latin typeface="Calibri"/>
                <a:cs typeface="Calibri"/>
              </a:rPr>
              <a:t>Pendapatan dan performa media sosial di luar lingkup.</a:t>
            </a:r>
          </a:p>
        </p:txBody>
      </p:sp>
      <p:sp>
        <p:nvSpPr>
          <p:cNvPr id="8" name="Bidang 8"/>
          <p:cNvSpPr/>
          <p:nvPr/>
        </p:nvSpPr>
        <p:spPr>
          <a:xfrm>
            <a:off x="6370320" y="1508760"/>
            <a:ext cx="4983480" cy="41148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ks 9"/>
          <p:cNvSpPr txBox="1"/>
          <p:nvPr/>
        </p:nvSpPr>
        <p:spPr>
          <a:xfrm>
            <a:off x="6370320" y="1645920"/>
            <a:ext cx="498348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spc="100" dirty="0">
                <a:solidFill>
                  <a:srgbClr val="E4572E"/>
                </a:solidFill>
                <a:latin typeface="Calibri"/>
                <a:cs typeface="Calibri"/>
              </a:rPr>
              <a:t>Pengukuran</a:t>
            </a:r>
          </a:p>
        </p:txBody>
      </p:sp>
      <p:sp>
        <p:nvSpPr>
          <p:cNvPr id="10" name="Teks 10"/>
          <p:cNvSpPr txBox="1"/>
          <p:nvPr/>
        </p:nvSpPr>
        <p:spPr>
          <a:xfrm>
            <a:off x="6370320" y="2057400"/>
            <a:ext cx="4983480" cy="4009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00" dirty="0">
                <a:solidFill>
                  <a:srgbClr val="233642"/>
                </a:solidFill>
                <a:latin typeface="Calibri"/>
                <a:cs typeface="Calibri"/>
              </a:rPr>
              <a:t>Model bahasa = </a:t>
            </a:r>
            <a:r>
              <a:rPr lang="id-ID" sz="1500" i="1" dirty="0">
                <a:solidFill>
                  <a:srgbClr val="233642"/>
                </a:solidFill>
                <a:latin typeface="Calibri"/>
                <a:cs typeface="Calibri"/>
              </a:rPr>
              <a:t>kotak hitam</a:t>
            </a:r>
            <a:r>
              <a:rPr lang="id-ID" sz="1500" dirty="0">
                <a:solidFill>
                  <a:srgbClr val="233642"/>
                </a:solidFill>
                <a:latin typeface="Calibri"/>
                <a:cs typeface="Calibri"/>
              </a:rPr>
              <a:t>, tidak dievaluasi.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00" dirty="0">
                <a:solidFill>
                  <a:srgbClr val="233642"/>
                </a:solidFill>
                <a:latin typeface="Calibri"/>
                <a:cs typeface="Calibri"/>
              </a:rPr>
              <a:t>Kontribusi arsitektur </a:t>
            </a:r>
            <a:r>
              <a:rPr lang="id-ID" sz="1500" i="1" dirty="0">
                <a:solidFill>
                  <a:srgbClr val="233642"/>
                </a:solidFill>
                <a:latin typeface="Calibri"/>
                <a:cs typeface="Calibri"/>
              </a:rPr>
              <a:t>multi-agent</a:t>
            </a:r>
            <a:r>
              <a:rPr lang="id-ID" sz="1500" dirty="0">
                <a:solidFill>
                  <a:srgbClr val="233642"/>
                </a:solidFill>
                <a:latin typeface="Calibri"/>
                <a:cs typeface="Calibri"/>
              </a:rPr>
              <a:t> tidak diisolasi.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00" i="1" dirty="0">
                <a:solidFill>
                  <a:srgbClr val="233642"/>
                </a:solidFill>
                <a:latin typeface="Calibri"/>
                <a:cs typeface="Calibri"/>
              </a:rPr>
              <a:t>Brand voice</a:t>
            </a:r>
            <a:r>
              <a:rPr lang="id-ID" sz="1500" dirty="0">
                <a:solidFill>
                  <a:srgbClr val="233642"/>
                </a:solidFill>
                <a:latin typeface="Calibri"/>
                <a:cs typeface="Calibri"/>
              </a:rPr>
              <a:t> dinilai manusia, bukan pendeteksi otomatis.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00" dirty="0">
                <a:solidFill>
                  <a:srgbClr val="233642"/>
                </a:solidFill>
                <a:latin typeface="Calibri"/>
                <a:cs typeface="Calibri"/>
              </a:rPr>
              <a:t>Durasi lama berupa estimasi — pembandingan deskriptif.</a:t>
            </a:r>
          </a:p>
        </p:txBody>
      </p:sp>
      <p:sp>
        <p:nvSpPr>
          <p:cNvPr id="11" name="Bidang 11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ks 12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3" name="Teks 13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Penelitian Terdahulu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 · 2.1 · 20 studi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508760"/>
            <a:ext cx="332232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idang 6"/>
          <p:cNvSpPr/>
          <p:nvPr/>
        </p:nvSpPr>
        <p:spPr>
          <a:xfrm>
            <a:off x="83820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1066800" y="1691640"/>
            <a:ext cx="291084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2324F"/>
                </a:solidFill>
                <a:latin typeface="Calibri"/>
                <a:cs typeface="Calibri"/>
              </a:rPr>
              <a:t>Kajian </a:t>
            </a:r>
            <a:r>
              <a:rPr lang="id-ID" sz="1400" b="1" i="1" dirty="0">
                <a:solidFill>
                  <a:srgbClr val="12324F"/>
                </a:solidFill>
                <a:latin typeface="Calibri"/>
                <a:cs typeface="Calibri"/>
              </a:rPr>
              <a:t>multi-agent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Tran dkk. (2025), Lin dkk. (2025),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Yan dkk. (2025).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Mekanisme sudah dipetakan,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tetapi berhenti di tataran konsep.</a:t>
            </a:r>
          </a:p>
        </p:txBody>
      </p:sp>
      <p:sp>
        <p:nvSpPr>
          <p:cNvPr id="8" name="Bidang 8"/>
          <p:cNvSpPr/>
          <p:nvPr/>
        </p:nvSpPr>
        <p:spPr>
          <a:xfrm>
            <a:off x="4434840" y="1508760"/>
            <a:ext cx="332232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idang 9"/>
          <p:cNvSpPr/>
          <p:nvPr/>
        </p:nvSpPr>
        <p:spPr>
          <a:xfrm>
            <a:off x="443484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4663440" y="1691640"/>
            <a:ext cx="291084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2324F"/>
                </a:solidFill>
                <a:latin typeface="Calibri"/>
                <a:cs typeface="Calibri"/>
              </a:rPr>
              <a:t>Pemasaran dan merek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Chu dkk. (2025) di sisi konsumen.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Wang dkk. (2025): model sulit meniru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gaya yang tidak dinyatakan eksplisit.</a:t>
            </a:r>
          </a:p>
        </p:txBody>
      </p:sp>
      <p:sp>
        <p:nvSpPr>
          <p:cNvPr id="11" name="Bidang 11"/>
          <p:cNvSpPr/>
          <p:nvPr/>
        </p:nvSpPr>
        <p:spPr>
          <a:xfrm>
            <a:off x="8031480" y="1508760"/>
            <a:ext cx="332232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Bidang 12"/>
          <p:cNvSpPr/>
          <p:nvPr/>
        </p:nvSpPr>
        <p:spPr>
          <a:xfrm>
            <a:off x="803148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ks 13"/>
          <p:cNvSpPr txBox="1"/>
          <p:nvPr/>
        </p:nvSpPr>
        <p:spPr>
          <a:xfrm>
            <a:off x="8260080" y="1691640"/>
            <a:ext cx="291084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2324F"/>
                </a:solidFill>
                <a:latin typeface="Calibri"/>
                <a:cs typeface="Calibri"/>
              </a:rPr>
              <a:t>Rancang bangun di Indonesia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Yusna dkk. (2025), Yunus dkk. (2025),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Hanum dkk. (2026), dan lainnya.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Pengujian berhenti pada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kesesuaian fungsi.</a:t>
            </a:r>
          </a:p>
        </p:txBody>
      </p:sp>
      <p:sp>
        <p:nvSpPr>
          <p:cNvPr id="14" name="Teks 14"/>
          <p:cNvSpPr txBox="1"/>
          <p:nvPr/>
        </p:nvSpPr>
        <p:spPr>
          <a:xfrm>
            <a:off x="838200" y="4206240"/>
            <a:ext cx="105156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600"/>
              </a:spcBef>
              <a:buNone/>
            </a:pPr>
            <a:r>
              <a:rPr lang="id-ID" sz="1400" dirty="0">
                <a:solidFill>
                  <a:srgbClr val="233642"/>
                </a:solidFill>
                <a:latin typeface="Calibri"/>
                <a:cs typeface="Calibri"/>
              </a:rPr>
              <a:t>Tidak satu pun menilai mutu materi yang dihasilkan sistem.</a:t>
            </a:r>
          </a:p>
        </p:txBody>
      </p:sp>
      <p:sp>
        <p:nvSpPr>
          <p:cNvPr id="15" name="Bidang 15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ks 16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7" name="Teks 17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Celah Riset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 · 2.1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508760"/>
            <a:ext cx="10515600" cy="548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idang 6"/>
          <p:cNvSpPr/>
          <p:nvPr/>
        </p:nvSpPr>
        <p:spPr>
          <a:xfrm>
            <a:off x="838200" y="1508760"/>
            <a:ext cx="41148" cy="5486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1043940" y="1508760"/>
            <a:ext cx="101041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650" b="1" dirty="0">
                <a:solidFill>
                  <a:srgbClr val="12324F"/>
                </a:solidFill>
                <a:latin typeface="Calibri"/>
                <a:cs typeface="Calibri"/>
              </a:rPr>
              <a:t>Belum ada penelitian yang memenuhi keempatnya sekaligus</a:t>
            </a:r>
          </a:p>
        </p:txBody>
      </p:sp>
      <p:sp>
        <p:nvSpPr>
          <p:cNvPr id="8" name="Teks 8"/>
          <p:cNvSpPr txBox="1"/>
          <p:nvPr/>
        </p:nvSpPr>
        <p:spPr>
          <a:xfrm>
            <a:off x="838200" y="2240280"/>
            <a:ext cx="10515600" cy="3857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750" dirty="0">
                <a:solidFill>
                  <a:srgbClr val="233642"/>
                </a:solidFill>
                <a:latin typeface="Calibri"/>
                <a:cs typeface="Calibri"/>
              </a:rPr>
              <a:t>Untuk proses kerja yang </a:t>
            </a:r>
            <a:r>
              <a:rPr lang="id-ID" sz="1750" i="1" dirty="0">
                <a:solidFill>
                  <a:srgbClr val="233642"/>
                </a:solidFill>
                <a:latin typeface="Calibri"/>
                <a:cs typeface="Calibri"/>
              </a:rPr>
              <a:t>nyata</a:t>
            </a:r>
            <a:r>
              <a:rPr lang="id-ID" sz="1750" dirty="0">
                <a:solidFill>
                  <a:srgbClr val="233642"/>
                </a:solidFill>
                <a:latin typeface="Calibri"/>
                <a:cs typeface="Calibri"/>
              </a:rPr>
              <a:t>, bukan simulasi;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750" dirty="0">
                <a:solidFill>
                  <a:srgbClr val="233642"/>
                </a:solidFill>
                <a:latin typeface="Calibri"/>
                <a:cs typeface="Calibri"/>
              </a:rPr>
              <a:t>Arsitektur </a:t>
            </a:r>
            <a:r>
              <a:rPr lang="id-ID" sz="1750" i="1" dirty="0">
                <a:solidFill>
                  <a:srgbClr val="233642"/>
                </a:solidFill>
                <a:latin typeface="Calibri"/>
                <a:cs typeface="Calibri"/>
              </a:rPr>
              <a:t>multi-agent</a:t>
            </a:r>
            <a:r>
              <a:rPr lang="id-ID" sz="1750" dirty="0">
                <a:solidFill>
                  <a:srgbClr val="233642"/>
                </a:solidFill>
                <a:latin typeface="Calibri"/>
                <a:cs typeface="Calibri"/>
              </a:rPr>
              <a:t> dengan pembagian tugas per modul;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750" dirty="0">
                <a:solidFill>
                  <a:srgbClr val="233642"/>
                </a:solidFill>
                <a:latin typeface="Calibri"/>
                <a:cs typeface="Calibri"/>
              </a:rPr>
              <a:t>Profil merek terstruktur sebagai konteks;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750" dirty="0">
                <a:solidFill>
                  <a:srgbClr val="233642"/>
                </a:solidFill>
                <a:latin typeface="Calibri"/>
                <a:cs typeface="Calibri"/>
              </a:rPr>
              <a:t>Diukur dua sisi: efisiensi waktu dan konsistensi </a:t>
            </a:r>
            <a:r>
              <a:rPr lang="id-ID" sz="1750" i="1" dirty="0">
                <a:solidFill>
                  <a:srgbClr val="233642"/>
                </a:solidFill>
                <a:latin typeface="Calibri"/>
                <a:cs typeface="Calibri"/>
              </a:rPr>
              <a:t>brand voice</a:t>
            </a:r>
            <a:r>
              <a:rPr lang="id-ID" sz="1750" dirty="0">
                <a:solidFill>
                  <a:srgbClr val="233642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9" name="Bidang 9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1" name="Teks 11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Landasan Teori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 · 2.2</a:t>
            </a:r>
          </a:p>
        </p:txBody>
      </p:sp>
      <p:sp>
        <p:nvSpPr>
          <p:cNvPr id="5" name="Teks 5"/>
          <p:cNvSpPr txBox="1"/>
          <p:nvPr/>
        </p:nvSpPr>
        <p:spPr>
          <a:xfrm>
            <a:off x="838200" y="1508760"/>
            <a:ext cx="105156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spc="100" dirty="0">
                <a:solidFill>
                  <a:srgbClr val="E4572E"/>
                </a:solidFill>
                <a:latin typeface="Calibri"/>
                <a:cs typeface="Calibri"/>
              </a:rPr>
              <a:t>Domain dan teknologi</a:t>
            </a:r>
          </a:p>
        </p:txBody>
      </p:sp>
      <p:sp>
        <p:nvSpPr>
          <p:cNvPr id="6" name="Bidang 6"/>
          <p:cNvSpPr/>
          <p:nvPr/>
        </p:nvSpPr>
        <p:spPr>
          <a:xfrm>
            <a:off x="838200" y="1920240"/>
            <a:ext cx="2735040" cy="411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975360" y="1920240"/>
            <a:ext cx="24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dirty="0">
                <a:solidFill>
                  <a:srgbClr val="12324F"/>
                </a:solidFill>
                <a:latin typeface="Calibri"/>
                <a:cs typeface="Calibri"/>
              </a:rPr>
              <a:t>Produksi konten digital</a:t>
            </a:r>
          </a:p>
        </p:txBody>
      </p:sp>
      <p:sp>
        <p:nvSpPr>
          <p:cNvPr id="8" name="Bidang 8"/>
          <p:cNvSpPr/>
          <p:nvPr/>
        </p:nvSpPr>
        <p:spPr>
          <a:xfrm>
            <a:off x="3710400" y="1920240"/>
            <a:ext cx="2420040" cy="411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ks 9"/>
          <p:cNvSpPr txBox="1"/>
          <p:nvPr/>
        </p:nvSpPr>
        <p:spPr>
          <a:xfrm>
            <a:off x="3847560" y="1920240"/>
            <a:ext cx="2145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dirty="0">
                <a:solidFill>
                  <a:srgbClr val="12324F"/>
                </a:solidFill>
                <a:latin typeface="Calibri"/>
                <a:cs typeface="Calibri"/>
              </a:rPr>
              <a:t>AI generatif dan LLM</a:t>
            </a:r>
          </a:p>
        </p:txBody>
      </p:sp>
      <p:sp>
        <p:nvSpPr>
          <p:cNvPr id="10" name="Bidang 10"/>
          <p:cNvSpPr/>
          <p:nvPr/>
        </p:nvSpPr>
        <p:spPr>
          <a:xfrm>
            <a:off x="6267600" y="1920240"/>
            <a:ext cx="3155040" cy="411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ks 11"/>
          <p:cNvSpPr txBox="1"/>
          <p:nvPr/>
        </p:nvSpPr>
        <p:spPr>
          <a:xfrm>
            <a:off x="6404760" y="1920240"/>
            <a:ext cx="288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dirty="0">
                <a:solidFill>
                  <a:srgbClr val="12324F"/>
                </a:solidFill>
                <a:latin typeface="Calibri"/>
                <a:cs typeface="Calibri"/>
              </a:rPr>
              <a:t>Agen cerdas dan </a:t>
            </a:r>
            <a:r>
              <a:rPr lang="id-ID" sz="1300" i="1" dirty="0">
                <a:solidFill>
                  <a:srgbClr val="12324F"/>
                </a:solidFill>
                <a:latin typeface="Calibri"/>
                <a:cs typeface="Calibri"/>
              </a:rPr>
              <a:t>multi-agent</a:t>
            </a:r>
          </a:p>
        </p:txBody>
      </p:sp>
      <p:sp>
        <p:nvSpPr>
          <p:cNvPr id="12" name="Bidang 12"/>
          <p:cNvSpPr/>
          <p:nvPr/>
        </p:nvSpPr>
        <p:spPr>
          <a:xfrm>
            <a:off x="9559800" y="1920240"/>
            <a:ext cx="1475040" cy="411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ks 13"/>
          <p:cNvSpPr txBox="1"/>
          <p:nvPr/>
        </p:nvSpPr>
        <p:spPr>
          <a:xfrm>
            <a:off x="9696960" y="1920240"/>
            <a:ext cx="120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i="1" dirty="0">
                <a:solidFill>
                  <a:srgbClr val="12324F"/>
                </a:solidFill>
                <a:latin typeface="Calibri"/>
                <a:cs typeface="Calibri"/>
              </a:rPr>
              <a:t>Brand voice</a:t>
            </a:r>
          </a:p>
        </p:txBody>
      </p:sp>
      <p:sp>
        <p:nvSpPr>
          <p:cNvPr id="14" name="Bidang 14"/>
          <p:cNvSpPr/>
          <p:nvPr/>
        </p:nvSpPr>
        <p:spPr>
          <a:xfrm>
            <a:off x="838200" y="2468880"/>
            <a:ext cx="3470040" cy="411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ks 15"/>
          <p:cNvSpPr txBox="1"/>
          <p:nvPr/>
        </p:nvSpPr>
        <p:spPr>
          <a:xfrm>
            <a:off x="975360" y="2468880"/>
            <a:ext cx="3195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dirty="0">
                <a:solidFill>
                  <a:srgbClr val="12324F"/>
                </a:solidFill>
                <a:latin typeface="Calibri"/>
                <a:cs typeface="Calibri"/>
              </a:rPr>
              <a:t>Otomasi alur kerja dan antrian</a:t>
            </a:r>
          </a:p>
        </p:txBody>
      </p:sp>
      <p:sp>
        <p:nvSpPr>
          <p:cNvPr id="16" name="Teks 16"/>
          <p:cNvSpPr txBox="1"/>
          <p:nvPr/>
        </p:nvSpPr>
        <p:spPr>
          <a:xfrm>
            <a:off x="838200" y="3337560"/>
            <a:ext cx="105156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spc="100" dirty="0">
                <a:solidFill>
                  <a:srgbClr val="E4572E"/>
                </a:solidFill>
                <a:latin typeface="Calibri"/>
                <a:cs typeface="Calibri"/>
              </a:rPr>
              <a:t>Rekayasa dan pengukuran</a:t>
            </a:r>
          </a:p>
        </p:txBody>
      </p:sp>
      <p:sp>
        <p:nvSpPr>
          <p:cNvPr id="17" name="Bidang 17"/>
          <p:cNvSpPr/>
          <p:nvPr/>
        </p:nvSpPr>
        <p:spPr>
          <a:xfrm>
            <a:off x="838200" y="3749040"/>
            <a:ext cx="3155040" cy="411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ks 18"/>
          <p:cNvSpPr txBox="1"/>
          <p:nvPr/>
        </p:nvSpPr>
        <p:spPr>
          <a:xfrm>
            <a:off x="975360" y="3749040"/>
            <a:ext cx="288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dirty="0">
                <a:solidFill>
                  <a:srgbClr val="12324F"/>
                </a:solidFill>
                <a:latin typeface="Calibri"/>
                <a:cs typeface="Calibri"/>
              </a:rPr>
              <a:t>Arsitektur web dan REST API</a:t>
            </a:r>
          </a:p>
        </p:txBody>
      </p:sp>
      <p:sp>
        <p:nvSpPr>
          <p:cNvPr id="19" name="Bidang 19"/>
          <p:cNvSpPr/>
          <p:nvPr/>
        </p:nvSpPr>
        <p:spPr>
          <a:xfrm>
            <a:off x="4130400" y="3749040"/>
            <a:ext cx="3365040" cy="411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ks 20"/>
          <p:cNvSpPr txBox="1"/>
          <p:nvPr/>
        </p:nvSpPr>
        <p:spPr>
          <a:xfrm>
            <a:off x="4267560" y="3749040"/>
            <a:ext cx="309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i="1" dirty="0">
                <a:solidFill>
                  <a:srgbClr val="12324F"/>
                </a:solidFill>
                <a:latin typeface="Calibri"/>
                <a:cs typeface="Calibri"/>
              </a:rPr>
              <a:t>Rapid Application Development</a:t>
            </a:r>
          </a:p>
        </p:txBody>
      </p:sp>
      <p:sp>
        <p:nvSpPr>
          <p:cNvPr id="21" name="Bidang 21"/>
          <p:cNvSpPr/>
          <p:nvPr/>
        </p:nvSpPr>
        <p:spPr>
          <a:xfrm>
            <a:off x="838200" y="4297680"/>
            <a:ext cx="4100040" cy="411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ks 22"/>
          <p:cNvSpPr txBox="1"/>
          <p:nvPr/>
        </p:nvSpPr>
        <p:spPr>
          <a:xfrm>
            <a:off x="975360" y="4297680"/>
            <a:ext cx="3825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dirty="0">
                <a:solidFill>
                  <a:srgbClr val="12324F"/>
                </a:solidFill>
                <a:latin typeface="Calibri"/>
                <a:cs typeface="Calibri"/>
              </a:rPr>
              <a:t>Rubrik dan kesepakatan antar-penilai</a:t>
            </a:r>
          </a:p>
        </p:txBody>
      </p:sp>
      <p:sp>
        <p:nvSpPr>
          <p:cNvPr id="23" name="Bidang 23"/>
          <p:cNvSpPr/>
          <p:nvPr/>
        </p:nvSpPr>
        <p:spPr>
          <a:xfrm>
            <a:off x="5075400" y="4297680"/>
            <a:ext cx="1475040" cy="411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ks 24"/>
          <p:cNvSpPr txBox="1"/>
          <p:nvPr/>
        </p:nvSpPr>
        <p:spPr>
          <a:xfrm>
            <a:off x="5212560" y="4297680"/>
            <a:ext cx="120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dirty="0">
                <a:solidFill>
                  <a:srgbClr val="12324F"/>
                </a:solidFill>
                <a:latin typeface="Calibri"/>
                <a:cs typeface="Calibri"/>
              </a:rPr>
              <a:t>UML dan ERD</a:t>
            </a:r>
          </a:p>
        </p:txBody>
      </p:sp>
      <p:sp>
        <p:nvSpPr>
          <p:cNvPr id="25" name="Bidang 25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ks 26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27" name="Teks 27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Kerangka Berpikir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 · 2.3</a:t>
            </a:r>
          </a:p>
        </p:txBody>
      </p:sp>
      <p:sp>
        <p:nvSpPr>
          <p:cNvPr id="5" name="Teks 5"/>
          <p:cNvSpPr txBox="1"/>
          <p:nvPr/>
        </p:nvSpPr>
        <p:spPr>
          <a:xfrm>
            <a:off x="838200" y="1508760"/>
            <a:ext cx="5303520" cy="4589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Masalah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— waktu panjang, gaya tidak konsisten.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Tinjauan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— teori </a:t>
            </a: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multi-agent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dan konteks terstruktur.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Rancangan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— empat agen, profil merek, pencatatan.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Pengujian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— catat waktu dan rubrik secara buta.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Hasil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— waktu turun, konsistensi naik.</a:t>
            </a:r>
          </a:p>
        </p:txBody>
      </p:sp>
      <p:sp>
        <p:nvSpPr>
          <p:cNvPr id="6" name="Bidang 6"/>
          <p:cNvSpPr/>
          <p:nvPr/>
        </p:nvSpPr>
        <p:spPr>
          <a:xfrm>
            <a:off x="6598920" y="1508760"/>
            <a:ext cx="4754880" cy="4229100"/>
          </a:xfrm>
          <a:prstGeom prst="rect">
            <a:avLst/>
          </a:prstGeom>
          <a:solidFill>
            <a:srgbClr val="F2F5F7"/>
          </a:solidFill>
          <a:ln w="12700">
            <a:solidFill>
              <a:srgbClr val="6B7A85"/>
            </a:solidFill>
            <a:prstDash val="dash"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6736080" y="1508760"/>
            <a:ext cx="4480560" cy="42291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dirty="0">
                <a:solidFill>
                  <a:srgbClr val="6B7A85"/>
                </a:solidFill>
                <a:latin typeface="Calibri"/>
                <a:cs typeface="Calibri"/>
              </a:rPr>
              <a:t>[ sisipkan Gambar 2.1 ]</a:t>
            </a:r>
          </a:p>
        </p:txBody>
      </p:sp>
      <p:sp>
        <p:nvSpPr>
          <p:cNvPr id="8" name="Teks 8"/>
          <p:cNvSpPr txBox="1"/>
          <p:nvPr/>
        </p:nvSpPr>
        <p:spPr>
          <a:xfrm>
            <a:off x="6598920" y="5875020"/>
            <a:ext cx="475488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dirty="0">
                <a:solidFill>
                  <a:srgbClr val="6B7A85"/>
                </a:solidFill>
                <a:latin typeface="Calibri"/>
                <a:cs typeface="Calibri"/>
              </a:rPr>
              <a:t>Gambar 2.1</a:t>
            </a:r>
          </a:p>
        </p:txBody>
      </p:sp>
      <p:sp>
        <p:nvSpPr>
          <p:cNvPr id="9" name="Bidang 9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1" name="Teks 11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Sistem yang Sedang Berjalan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III · 3.1.1</a:t>
            </a:r>
          </a:p>
        </p:txBody>
      </p:sp>
      <p:sp>
        <p:nvSpPr>
          <p:cNvPr id="5" name="Teks 5"/>
          <p:cNvSpPr txBox="1"/>
          <p:nvPr/>
        </p:nvSpPr>
        <p:spPr>
          <a:xfrm>
            <a:off x="838200" y="1508760"/>
            <a:ext cx="5303520" cy="4589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Seluruhnya manual.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Sebagian admin memakai AI lewat antarmuka percakapan umum.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Perintah disusun sendiri, tanpa acuan bersama.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Tidak ada berkas acuan gaya bahasa.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Tidak ada pencatatan.</a:t>
            </a:r>
          </a:p>
        </p:txBody>
      </p:sp>
      <p:sp>
        <p:nvSpPr>
          <p:cNvPr id="6" name="Bidang 6"/>
          <p:cNvSpPr/>
          <p:nvPr/>
        </p:nvSpPr>
        <p:spPr>
          <a:xfrm>
            <a:off x="6598920" y="1508760"/>
            <a:ext cx="4754880" cy="4229100"/>
          </a:xfrm>
          <a:prstGeom prst="rect">
            <a:avLst/>
          </a:prstGeom>
          <a:solidFill>
            <a:srgbClr val="F2F5F7"/>
          </a:solidFill>
          <a:ln w="12700">
            <a:solidFill>
              <a:srgbClr val="6B7A85"/>
            </a:solidFill>
            <a:prstDash val="dash"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6736080" y="1508760"/>
            <a:ext cx="4480560" cy="42291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dirty="0">
                <a:solidFill>
                  <a:srgbClr val="6B7A85"/>
                </a:solidFill>
                <a:latin typeface="Calibri"/>
                <a:cs typeface="Calibri"/>
              </a:rPr>
              <a:t>[ sisipkan Gambar 3.1 ]</a:t>
            </a:r>
          </a:p>
        </p:txBody>
      </p:sp>
      <p:sp>
        <p:nvSpPr>
          <p:cNvPr id="8" name="Teks 8"/>
          <p:cNvSpPr txBox="1"/>
          <p:nvPr/>
        </p:nvSpPr>
        <p:spPr>
          <a:xfrm>
            <a:off x="6598920" y="5875020"/>
            <a:ext cx="475488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dirty="0">
                <a:solidFill>
                  <a:srgbClr val="6B7A85"/>
                </a:solidFill>
                <a:latin typeface="Calibri"/>
                <a:cs typeface="Calibri"/>
              </a:rPr>
              <a:t>Gambar 3.1</a:t>
            </a:r>
          </a:p>
        </p:txBody>
      </p:sp>
      <p:sp>
        <p:nvSpPr>
          <p:cNvPr id="9" name="Bidang 9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1" name="Teks 11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Usulan — Arsitektur Tiga Lapis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III · 3.1.3</a:t>
            </a:r>
          </a:p>
        </p:txBody>
      </p:sp>
      <p:sp>
        <p:nvSpPr>
          <p:cNvPr id="5" name="Teks 5"/>
          <p:cNvSpPr txBox="1"/>
          <p:nvPr/>
        </p:nvSpPr>
        <p:spPr>
          <a:xfrm>
            <a:off x="838200" y="1508760"/>
            <a:ext cx="5303520" cy="4589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Antarmuka web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— tidak pernah menyentuh gerbang agen maupun basis data.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Layanan backend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— satu-satunya pintu ke basis data dan layanan luar.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Gerbang agen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— menaungi empat agen dengan tugas berbeda.</a:t>
            </a:r>
          </a:p>
        </p:txBody>
      </p:sp>
      <p:sp>
        <p:nvSpPr>
          <p:cNvPr id="6" name="Bidang 6"/>
          <p:cNvSpPr/>
          <p:nvPr/>
        </p:nvSpPr>
        <p:spPr>
          <a:xfrm>
            <a:off x="6598920" y="1508760"/>
            <a:ext cx="4754880" cy="4229100"/>
          </a:xfrm>
          <a:prstGeom prst="rect">
            <a:avLst/>
          </a:prstGeom>
          <a:solidFill>
            <a:srgbClr val="F2F5F7"/>
          </a:solidFill>
          <a:ln w="12700">
            <a:solidFill>
              <a:srgbClr val="6B7A85"/>
            </a:solidFill>
            <a:prstDash val="dash"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6736080" y="1508760"/>
            <a:ext cx="4480560" cy="42291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dirty="0">
                <a:solidFill>
                  <a:srgbClr val="6B7A85"/>
                </a:solidFill>
                <a:latin typeface="Calibri"/>
                <a:cs typeface="Calibri"/>
              </a:rPr>
              <a:t>[ sisipkan Gambar 3.2 ]</a:t>
            </a:r>
          </a:p>
        </p:txBody>
      </p:sp>
      <p:sp>
        <p:nvSpPr>
          <p:cNvPr id="8" name="Teks 8"/>
          <p:cNvSpPr txBox="1"/>
          <p:nvPr/>
        </p:nvSpPr>
        <p:spPr>
          <a:xfrm>
            <a:off x="6598920" y="5875020"/>
            <a:ext cx="475488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dirty="0">
                <a:solidFill>
                  <a:srgbClr val="6B7A85"/>
                </a:solidFill>
                <a:latin typeface="Calibri"/>
                <a:cs typeface="Calibri"/>
              </a:rPr>
              <a:t>Gambar 3.2</a:t>
            </a:r>
          </a:p>
        </p:txBody>
      </p:sp>
      <p:sp>
        <p:nvSpPr>
          <p:cNvPr id="9" name="Bidang 9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1" name="Teks 11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Apa Arti “Agen” di Sistem Ini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III · 3.1.3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508760"/>
            <a:ext cx="332232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idang 6"/>
          <p:cNvSpPr/>
          <p:nvPr/>
        </p:nvSpPr>
        <p:spPr>
          <a:xfrm>
            <a:off x="83820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1066800" y="1691640"/>
            <a:ext cx="291084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50" b="1" dirty="0">
                <a:solidFill>
                  <a:srgbClr val="12324F"/>
                </a:solidFill>
                <a:latin typeface="Calibri"/>
                <a:cs typeface="Calibri"/>
              </a:rPr>
              <a:t>Satu model, empat agen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Keempatnya memakai model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bahasa yang sama.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Bukan empat model berbeda.</a:t>
            </a:r>
          </a:p>
        </p:txBody>
      </p:sp>
      <p:sp>
        <p:nvSpPr>
          <p:cNvPr id="8" name="Bidang 8"/>
          <p:cNvSpPr/>
          <p:nvPr/>
        </p:nvSpPr>
        <p:spPr>
          <a:xfrm>
            <a:off x="4434840" y="1508760"/>
            <a:ext cx="332232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idang 9"/>
          <p:cNvSpPr/>
          <p:nvPr/>
        </p:nvSpPr>
        <p:spPr>
          <a:xfrm>
            <a:off x="443484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4663440" y="1691640"/>
            <a:ext cx="291084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50" b="1" dirty="0">
                <a:solidFill>
                  <a:srgbClr val="12324F"/>
                </a:solidFill>
                <a:latin typeface="Calibri"/>
                <a:cs typeface="Calibri"/>
              </a:rPr>
              <a:t>Yang membedakan: ruang kerja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Tiap agen punya foldernya sendiri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berisi SKILL.md, pengetahuan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merek, dan contoh naskah.</a:t>
            </a:r>
          </a:p>
        </p:txBody>
      </p:sp>
      <p:sp>
        <p:nvSpPr>
          <p:cNvPr id="11" name="Bidang 11"/>
          <p:cNvSpPr/>
          <p:nvPr/>
        </p:nvSpPr>
        <p:spPr>
          <a:xfrm>
            <a:off x="8031480" y="1508760"/>
            <a:ext cx="332232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Bidang 12"/>
          <p:cNvSpPr/>
          <p:nvPr/>
        </p:nvSpPr>
        <p:spPr>
          <a:xfrm>
            <a:off x="803148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ks 13"/>
          <p:cNvSpPr txBox="1"/>
          <p:nvPr/>
        </p:nvSpPr>
        <p:spPr>
          <a:xfrm>
            <a:off x="8260080" y="1691640"/>
            <a:ext cx="291084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50" b="1" dirty="0">
                <a:solidFill>
                  <a:srgbClr val="12324F"/>
                </a:solidFill>
                <a:latin typeface="Calibri"/>
                <a:cs typeface="Calibri"/>
              </a:rPr>
              <a:t>SKILL.md = kontrak kerja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Memuat tugas, cara berpikir,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larangan, dan bentuk keluaran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yang wajib berupa JSON.</a:t>
            </a:r>
          </a:p>
        </p:txBody>
      </p:sp>
      <p:sp>
        <p:nvSpPr>
          <p:cNvPr id="14" name="Teks 14"/>
          <p:cNvSpPr txBox="1"/>
          <p:nvPr/>
        </p:nvSpPr>
        <p:spPr>
          <a:xfrm>
            <a:off x="838200" y="4206240"/>
            <a:ext cx="105156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600"/>
              </a:spcBef>
              <a:buNone/>
            </a:pPr>
            <a:r>
              <a:rPr lang="id-ID" sz="1400" dirty="0">
                <a:solidFill>
                  <a:srgbClr val="233642"/>
                </a:solidFill>
                <a:latin typeface="Calibri"/>
                <a:cs typeface="Calibri"/>
              </a:rPr>
              <a:t>Jadi pembagian tugas per modul berarti pembagian </a:t>
            </a:r>
            <a:r>
              <a:rPr lang="id-ID" sz="1400" i="1" dirty="0">
                <a:solidFill>
                  <a:srgbClr val="233642"/>
                </a:solidFill>
                <a:latin typeface="Calibri"/>
                <a:cs typeface="Calibri"/>
              </a:rPr>
              <a:t>instruksi dan pengetahuan</a:t>
            </a:r>
            <a:r>
              <a:rPr lang="id-ID" sz="1400" dirty="0">
                <a:solidFill>
                  <a:srgbClr val="233642"/>
                </a:solidFill>
                <a:latin typeface="Calibri"/>
                <a:cs typeface="Calibri"/>
              </a:rPr>
              <a:t>, bukan pembagian model.</a:t>
            </a:r>
          </a:p>
        </p:txBody>
      </p:sp>
      <p:sp>
        <p:nvSpPr>
          <p:cNvPr id="15" name="Bidang 15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ks 16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7" name="Teks 17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Empat Agen dan Tugasnya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III · 3.1.3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508760"/>
            <a:ext cx="242316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idang 6"/>
          <p:cNvSpPr/>
          <p:nvPr/>
        </p:nvSpPr>
        <p:spPr>
          <a:xfrm>
            <a:off x="83820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1066800" y="1691640"/>
            <a:ext cx="201168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2324F"/>
                </a:solidFill>
                <a:latin typeface="Calibri"/>
                <a:cs typeface="Calibri"/>
              </a:rPr>
              <a:t>Penyusun ringkasan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Merumuskan sudut pandang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dan arahan visual.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Keluaran: konsep + prompt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gambar, atau brief teks.</a:t>
            </a:r>
          </a:p>
        </p:txBody>
      </p:sp>
      <p:sp>
        <p:nvSpPr>
          <p:cNvPr id="8" name="Bidang 8"/>
          <p:cNvSpPr/>
          <p:nvPr/>
        </p:nvSpPr>
        <p:spPr>
          <a:xfrm>
            <a:off x="3535680" y="1508760"/>
            <a:ext cx="242316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idang 9"/>
          <p:cNvSpPr/>
          <p:nvPr/>
        </p:nvSpPr>
        <p:spPr>
          <a:xfrm>
            <a:off x="353568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3764280" y="1691640"/>
            <a:ext cx="201168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2324F"/>
                </a:solidFill>
                <a:latin typeface="Calibri"/>
                <a:cs typeface="Calibri"/>
              </a:rPr>
              <a:t>Penulis naskah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Menyusun naskah unggahan: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kalimat pembuka, isi,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ajakan bertindak, tagar.</a:t>
            </a:r>
          </a:p>
        </p:txBody>
      </p:sp>
      <p:sp>
        <p:nvSpPr>
          <p:cNvPr id="11" name="Bidang 11"/>
          <p:cNvSpPr/>
          <p:nvPr/>
        </p:nvSpPr>
        <p:spPr>
          <a:xfrm>
            <a:off x="6233160" y="1508760"/>
            <a:ext cx="242316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Bidang 12"/>
          <p:cNvSpPr/>
          <p:nvPr/>
        </p:nvSpPr>
        <p:spPr>
          <a:xfrm>
            <a:off x="623316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ks 13"/>
          <p:cNvSpPr txBox="1"/>
          <p:nvPr/>
        </p:nvSpPr>
        <p:spPr>
          <a:xfrm>
            <a:off x="6461760" y="1691640"/>
            <a:ext cx="201168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2324F"/>
                </a:solidFill>
                <a:latin typeface="Calibri"/>
                <a:cs typeface="Calibri"/>
              </a:rPr>
              <a:t>Penghalus teks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Membuang nada robotik.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Dipanggil sebagai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tahap akhir.</a:t>
            </a:r>
          </a:p>
        </p:txBody>
      </p:sp>
      <p:sp>
        <p:nvSpPr>
          <p:cNvPr id="14" name="Bidang 14"/>
          <p:cNvSpPr/>
          <p:nvPr/>
        </p:nvSpPr>
        <p:spPr>
          <a:xfrm>
            <a:off x="8930640" y="1508760"/>
            <a:ext cx="242316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Bidang 15"/>
          <p:cNvSpPr/>
          <p:nvPr/>
        </p:nvSpPr>
        <p:spPr>
          <a:xfrm>
            <a:off x="893064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ks 16"/>
          <p:cNvSpPr txBox="1"/>
          <p:nvPr/>
        </p:nvSpPr>
        <p:spPr>
          <a:xfrm>
            <a:off x="9159240" y="1691640"/>
            <a:ext cx="201168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12324F"/>
                </a:solidFill>
                <a:latin typeface="Calibri"/>
                <a:cs typeface="Calibri"/>
              </a:rPr>
              <a:t>Penyusun iklan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Menghasilkan varian naskah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iklan: kail, judul,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00" dirty="0">
                <a:solidFill>
                  <a:srgbClr val="233642"/>
                </a:solidFill>
                <a:latin typeface="Calibri"/>
                <a:cs typeface="Calibri"/>
              </a:rPr>
              <a:t>dan teks utama.</a:t>
            </a:r>
          </a:p>
        </p:txBody>
      </p:sp>
      <p:sp>
        <p:nvSpPr>
          <p:cNvPr id="17" name="Teks 17"/>
          <p:cNvSpPr txBox="1"/>
          <p:nvPr/>
        </p:nvSpPr>
        <p:spPr>
          <a:xfrm>
            <a:off x="838200" y="4206240"/>
            <a:ext cx="105156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600"/>
              </a:spcBef>
              <a:buNone/>
            </a:pPr>
            <a:r>
              <a:rPr lang="id-ID" sz="1400" dirty="0">
                <a:solidFill>
                  <a:srgbClr val="233642"/>
                </a:solidFill>
                <a:latin typeface="Calibri"/>
                <a:cs typeface="Calibri"/>
              </a:rPr>
              <a:t>Empat agen ini yang menjadi objek kebutuhan CRE-01 sampai CRE-04 pada Tabel 3.1.</a:t>
            </a:r>
          </a:p>
        </p:txBody>
      </p:sp>
      <p:sp>
        <p:nvSpPr>
          <p:cNvPr id="18" name="Bidang 18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ks 19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20" name="Teks 20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Alur Satu Permintaan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III · 3.1.3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783080"/>
            <a:ext cx="1920240" cy="2194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idang 6"/>
          <p:cNvSpPr/>
          <p:nvPr/>
        </p:nvSpPr>
        <p:spPr>
          <a:xfrm>
            <a:off x="838200" y="1554480"/>
            <a:ext cx="457200" cy="457200"/>
          </a:xfrm>
          <a:prstGeom prst="rect">
            <a:avLst/>
          </a:prstGeom>
          <a:solidFill>
            <a:srgbClr val="12324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83820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8" name="Teks 8"/>
          <p:cNvSpPr txBox="1"/>
          <p:nvPr/>
        </p:nvSpPr>
        <p:spPr>
          <a:xfrm>
            <a:off x="1021080" y="2103120"/>
            <a:ext cx="1554480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dirty="0">
                <a:solidFill>
                  <a:srgbClr val="12324F"/>
                </a:solidFill>
                <a:latin typeface="Calibri"/>
                <a:cs typeface="Calibri"/>
              </a:rPr>
              <a:t>Antarmuka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Pengguna mengirim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data produk.</a:t>
            </a:r>
          </a:p>
        </p:txBody>
      </p:sp>
      <p:sp>
        <p:nvSpPr>
          <p:cNvPr id="9" name="Teks 9"/>
          <p:cNvSpPr txBox="1"/>
          <p:nvPr/>
        </p:nvSpPr>
        <p:spPr>
          <a:xfrm>
            <a:off x="2758440" y="265176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800" b="1" dirty="0">
                <a:solidFill>
                  <a:srgbClr val="E4572E"/>
                </a:solidFill>
                <a:latin typeface="Calibri"/>
                <a:cs typeface="Calibri"/>
              </a:rPr>
              <a:t>›</a:t>
            </a:r>
          </a:p>
        </p:txBody>
      </p:sp>
      <p:sp>
        <p:nvSpPr>
          <p:cNvPr id="10" name="Bidang 10"/>
          <p:cNvSpPr/>
          <p:nvPr/>
        </p:nvSpPr>
        <p:spPr>
          <a:xfrm>
            <a:off x="2987040" y="1783080"/>
            <a:ext cx="1920240" cy="2194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idang 11"/>
          <p:cNvSpPr/>
          <p:nvPr/>
        </p:nvSpPr>
        <p:spPr>
          <a:xfrm>
            <a:off x="2987040" y="1554480"/>
            <a:ext cx="457200" cy="457200"/>
          </a:xfrm>
          <a:prstGeom prst="rect">
            <a:avLst/>
          </a:prstGeom>
          <a:solidFill>
            <a:srgbClr val="1232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ks 12"/>
          <p:cNvSpPr txBox="1"/>
          <p:nvPr/>
        </p:nvSpPr>
        <p:spPr>
          <a:xfrm>
            <a:off x="298704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Teks 13"/>
          <p:cNvSpPr txBox="1"/>
          <p:nvPr/>
        </p:nvSpPr>
        <p:spPr>
          <a:xfrm>
            <a:off x="3169920" y="2103120"/>
            <a:ext cx="1554480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dirty="0">
                <a:solidFill>
                  <a:srgbClr val="12324F"/>
                </a:solidFill>
                <a:latin typeface="Calibri"/>
                <a:cs typeface="Calibri"/>
              </a:rPr>
              <a:t>Ambil profil merek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Backend membaca profil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merek dari basis data.</a:t>
            </a:r>
          </a:p>
        </p:txBody>
      </p:sp>
      <p:sp>
        <p:nvSpPr>
          <p:cNvPr id="14" name="Teks 14"/>
          <p:cNvSpPr txBox="1"/>
          <p:nvPr/>
        </p:nvSpPr>
        <p:spPr>
          <a:xfrm>
            <a:off x="4907280" y="265176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800" b="1" dirty="0">
                <a:solidFill>
                  <a:srgbClr val="E4572E"/>
                </a:solidFill>
                <a:latin typeface="Calibri"/>
                <a:cs typeface="Calibri"/>
              </a:rPr>
              <a:t>›</a:t>
            </a:r>
          </a:p>
        </p:txBody>
      </p:sp>
      <p:sp>
        <p:nvSpPr>
          <p:cNvPr id="15" name="Bidang 15"/>
          <p:cNvSpPr/>
          <p:nvPr/>
        </p:nvSpPr>
        <p:spPr>
          <a:xfrm>
            <a:off x="5135880" y="1783080"/>
            <a:ext cx="1920240" cy="2194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Bidang 16"/>
          <p:cNvSpPr/>
          <p:nvPr/>
        </p:nvSpPr>
        <p:spPr>
          <a:xfrm>
            <a:off x="5135880" y="1554480"/>
            <a:ext cx="457200" cy="457200"/>
          </a:xfrm>
          <a:prstGeom prst="rect">
            <a:avLst/>
          </a:prstGeom>
          <a:solidFill>
            <a:srgbClr val="1232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ks 17"/>
          <p:cNvSpPr txBox="1"/>
          <p:nvPr/>
        </p:nvSpPr>
        <p:spPr>
          <a:xfrm>
            <a:off x="513588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8" name="Teks 18"/>
          <p:cNvSpPr txBox="1"/>
          <p:nvPr/>
        </p:nvSpPr>
        <p:spPr>
          <a:xfrm>
            <a:off x="5318760" y="2103120"/>
            <a:ext cx="1554480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dirty="0">
                <a:solidFill>
                  <a:srgbClr val="12324F"/>
                </a:solidFill>
                <a:latin typeface="Calibri"/>
                <a:cs typeface="Calibri"/>
              </a:rPr>
              <a:t>Pemicu tipis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Nama skill + data,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tanpa perintah panjang.</a:t>
            </a:r>
          </a:p>
        </p:txBody>
      </p:sp>
      <p:sp>
        <p:nvSpPr>
          <p:cNvPr id="19" name="Teks 19"/>
          <p:cNvSpPr txBox="1"/>
          <p:nvPr/>
        </p:nvSpPr>
        <p:spPr>
          <a:xfrm>
            <a:off x="7056120" y="265176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800" b="1" dirty="0">
                <a:solidFill>
                  <a:srgbClr val="E4572E"/>
                </a:solidFill>
                <a:latin typeface="Calibri"/>
                <a:cs typeface="Calibri"/>
              </a:rPr>
              <a:t>›</a:t>
            </a:r>
          </a:p>
        </p:txBody>
      </p:sp>
      <p:sp>
        <p:nvSpPr>
          <p:cNvPr id="20" name="Bidang 20"/>
          <p:cNvSpPr/>
          <p:nvPr/>
        </p:nvSpPr>
        <p:spPr>
          <a:xfrm>
            <a:off x="7284720" y="1783080"/>
            <a:ext cx="1920240" cy="2194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Bidang 21"/>
          <p:cNvSpPr/>
          <p:nvPr/>
        </p:nvSpPr>
        <p:spPr>
          <a:xfrm>
            <a:off x="7284720" y="1554480"/>
            <a:ext cx="457200" cy="457200"/>
          </a:xfrm>
          <a:prstGeom prst="rect">
            <a:avLst/>
          </a:prstGeom>
          <a:solidFill>
            <a:srgbClr val="1232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ks 22"/>
          <p:cNvSpPr txBox="1"/>
          <p:nvPr/>
        </p:nvSpPr>
        <p:spPr>
          <a:xfrm>
            <a:off x="728472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3" name="Teks 23"/>
          <p:cNvSpPr txBox="1"/>
          <p:nvPr/>
        </p:nvSpPr>
        <p:spPr>
          <a:xfrm>
            <a:off x="7467600" y="2103120"/>
            <a:ext cx="1554480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dirty="0">
                <a:solidFill>
                  <a:srgbClr val="12324F"/>
                </a:solidFill>
                <a:latin typeface="Calibri"/>
                <a:cs typeface="Calibri"/>
              </a:rPr>
              <a:t>Agen menjawab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Agen membaca aturannya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sendiri (SKILL.md),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lalu membalas JSON.</a:t>
            </a:r>
          </a:p>
        </p:txBody>
      </p:sp>
      <p:sp>
        <p:nvSpPr>
          <p:cNvPr id="24" name="Teks 24"/>
          <p:cNvSpPr txBox="1"/>
          <p:nvPr/>
        </p:nvSpPr>
        <p:spPr>
          <a:xfrm>
            <a:off x="9204960" y="265176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800" b="1" dirty="0">
                <a:solidFill>
                  <a:srgbClr val="E4572E"/>
                </a:solidFill>
                <a:latin typeface="Calibri"/>
                <a:cs typeface="Calibri"/>
              </a:rPr>
              <a:t>›</a:t>
            </a:r>
          </a:p>
        </p:txBody>
      </p:sp>
      <p:sp>
        <p:nvSpPr>
          <p:cNvPr id="25" name="Bidang 25"/>
          <p:cNvSpPr/>
          <p:nvPr/>
        </p:nvSpPr>
        <p:spPr>
          <a:xfrm>
            <a:off x="9433560" y="1783080"/>
            <a:ext cx="1920240" cy="2194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Bidang 26"/>
          <p:cNvSpPr/>
          <p:nvPr/>
        </p:nvSpPr>
        <p:spPr>
          <a:xfrm>
            <a:off x="9433560" y="1554480"/>
            <a:ext cx="457200" cy="457200"/>
          </a:xfrm>
          <a:prstGeom prst="rect">
            <a:avLst/>
          </a:prstGeom>
          <a:solidFill>
            <a:srgbClr val="1232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ks 27"/>
          <p:cNvSpPr txBox="1"/>
          <p:nvPr/>
        </p:nvSpPr>
        <p:spPr>
          <a:xfrm>
            <a:off x="943356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8" name="Teks 28"/>
          <p:cNvSpPr txBox="1"/>
          <p:nvPr/>
        </p:nvSpPr>
        <p:spPr>
          <a:xfrm>
            <a:off x="9616440" y="2103120"/>
            <a:ext cx="1554480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dirty="0">
                <a:solidFill>
                  <a:srgbClr val="12324F"/>
                </a:solidFill>
                <a:latin typeface="Calibri"/>
                <a:cs typeface="Calibri"/>
              </a:rPr>
              <a:t>Haluskan dan catat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Nada dirapikan,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seluruhnya dicatat.</a:t>
            </a:r>
          </a:p>
        </p:txBody>
      </p:sp>
      <p:sp>
        <p:nvSpPr>
          <p:cNvPr id="29" name="Teks 29"/>
          <p:cNvSpPr txBox="1"/>
          <p:nvPr/>
        </p:nvSpPr>
        <p:spPr>
          <a:xfrm>
            <a:off x="838200" y="4343400"/>
            <a:ext cx="105156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400" dirty="0">
                <a:solidFill>
                  <a:srgbClr val="233642"/>
                </a:solidFill>
                <a:latin typeface="Calibri"/>
                <a:cs typeface="Calibri"/>
              </a:rPr>
              <a:t>Perintah panjangnya ada pada agen, bukan pada backend — sehingga dapat diperbaiki tanpa mengubah kode.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400" dirty="0">
                <a:solidFill>
                  <a:srgbClr val="233642"/>
                </a:solidFill>
                <a:latin typeface="Calibri"/>
                <a:cs typeface="Calibri"/>
              </a:rPr>
              <a:t>Tiap panggilan memakai sesi baru: bersih dari riwayat, selalu membaca aturan terbaru, dan aman dijalankan bersamaan.</a:t>
            </a:r>
          </a:p>
        </p:txBody>
      </p:sp>
      <p:sp>
        <p:nvSpPr>
          <p:cNvPr id="30" name="Bidang 30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ks 31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32" name="Teks 32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Kunci: Kenapa Keluarannya Tidak Generik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III · 3.1.3 · pembeda penelitian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508760"/>
            <a:ext cx="332232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idang 6"/>
          <p:cNvSpPr/>
          <p:nvPr/>
        </p:nvSpPr>
        <p:spPr>
          <a:xfrm>
            <a:off x="83820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1066800" y="1691640"/>
            <a:ext cx="291084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50" b="1" dirty="0">
                <a:solidFill>
                  <a:srgbClr val="12324F"/>
                </a:solidFill>
                <a:latin typeface="Calibri"/>
                <a:cs typeface="Calibri"/>
              </a:rPr>
              <a:t>Konteks dari basis data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Profil merek dibaca dari tabel,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bukan ditulis di dalam kode.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Gaya bahasa, audiens, keunggulan,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batasan, ajakan, contoh naskah.</a:t>
            </a:r>
          </a:p>
        </p:txBody>
      </p:sp>
      <p:sp>
        <p:nvSpPr>
          <p:cNvPr id="8" name="Bidang 8"/>
          <p:cNvSpPr/>
          <p:nvPr/>
        </p:nvSpPr>
        <p:spPr>
          <a:xfrm>
            <a:off x="4434840" y="1508760"/>
            <a:ext cx="332232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idang 9"/>
          <p:cNvSpPr/>
          <p:nvPr/>
        </p:nvSpPr>
        <p:spPr>
          <a:xfrm>
            <a:off x="443484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4663440" y="1691640"/>
            <a:ext cx="291084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50" b="1" dirty="0">
                <a:solidFill>
                  <a:srgbClr val="12324F"/>
                </a:solidFill>
                <a:latin typeface="Calibri"/>
                <a:cs typeface="Calibri"/>
              </a:rPr>
              <a:t>Aturan anti-jiplak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Pengetahuan merek hanya boleh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jadi rujukan latar.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Faktanya boleh dipakai,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kalimatnya tidak.</a:t>
            </a:r>
          </a:p>
        </p:txBody>
      </p:sp>
      <p:sp>
        <p:nvSpPr>
          <p:cNvPr id="11" name="Bidang 11"/>
          <p:cNvSpPr/>
          <p:nvPr/>
        </p:nvSpPr>
        <p:spPr>
          <a:xfrm>
            <a:off x="8031480" y="1508760"/>
            <a:ext cx="3322320" cy="2377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Bidang 12"/>
          <p:cNvSpPr/>
          <p:nvPr/>
        </p:nvSpPr>
        <p:spPr>
          <a:xfrm>
            <a:off x="8031480" y="1508760"/>
            <a:ext cx="41148" cy="23774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ks 13"/>
          <p:cNvSpPr txBox="1"/>
          <p:nvPr/>
        </p:nvSpPr>
        <p:spPr>
          <a:xfrm>
            <a:off x="8260080" y="1691640"/>
            <a:ext cx="291084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50" b="1" dirty="0">
                <a:solidFill>
                  <a:srgbClr val="12324F"/>
                </a:solidFill>
                <a:latin typeface="Calibri"/>
                <a:cs typeface="Calibri"/>
              </a:rPr>
              <a:t>Aturan anti-nada mesin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Klise dan kata korporat dilarang.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Panjang kalimat wajib</a:t>
            </a:r>
          </a:p>
          <a:p>
            <a:pPr marL="0" indent="0" algn="l">
              <a:lnSpc>
                <a:spcPct val="102000"/>
              </a:lnSpc>
              <a:spcBef>
                <a:spcPts val="260"/>
              </a:spcBef>
              <a:buNone/>
            </a:pPr>
            <a:r>
              <a:rPr lang="id-ID" sz="1350" dirty="0">
                <a:solidFill>
                  <a:srgbClr val="233642"/>
                </a:solidFill>
                <a:latin typeface="Calibri"/>
                <a:cs typeface="Calibri"/>
              </a:rPr>
              <a:t>divariasikan.</a:t>
            </a:r>
          </a:p>
        </p:txBody>
      </p:sp>
      <p:sp>
        <p:nvSpPr>
          <p:cNvPr id="14" name="Teks 14"/>
          <p:cNvSpPr txBox="1"/>
          <p:nvPr/>
        </p:nvSpPr>
        <p:spPr>
          <a:xfrm>
            <a:off x="838200" y="4206240"/>
            <a:ext cx="105156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600"/>
              </a:spcBef>
              <a:buNone/>
            </a:pPr>
            <a:r>
              <a:rPr lang="id-ID" sz="1400" dirty="0">
                <a:solidFill>
                  <a:srgbClr val="233642"/>
                </a:solidFill>
                <a:latin typeface="Calibri"/>
                <a:cs typeface="Calibri"/>
              </a:rPr>
              <a:t>Kelima dimensi rubrik penilaian diturunkan dari bidang profil merek yang sama — jadi yang dinilai memang yang dipakai.</a:t>
            </a:r>
          </a:p>
        </p:txBody>
      </p:sp>
      <p:sp>
        <p:nvSpPr>
          <p:cNvPr id="15" name="Bidang 15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ks 16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7" name="Teks 17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Proses Gabungan yang Berjalan di Latar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III · 3.1.3 · CRE-04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783080"/>
            <a:ext cx="2457450" cy="2194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idang 6"/>
          <p:cNvSpPr/>
          <p:nvPr/>
        </p:nvSpPr>
        <p:spPr>
          <a:xfrm>
            <a:off x="838200" y="1554480"/>
            <a:ext cx="457200" cy="457200"/>
          </a:xfrm>
          <a:prstGeom prst="rect">
            <a:avLst/>
          </a:prstGeom>
          <a:solidFill>
            <a:srgbClr val="12324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83820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8" name="Teks 8"/>
          <p:cNvSpPr txBox="1"/>
          <p:nvPr/>
        </p:nvSpPr>
        <p:spPr>
          <a:xfrm>
            <a:off x="1021080" y="2103120"/>
            <a:ext cx="2091690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dirty="0">
                <a:solidFill>
                  <a:srgbClr val="12324F"/>
                </a:solidFill>
                <a:latin typeface="Calibri"/>
                <a:cs typeface="Calibri"/>
              </a:rPr>
              <a:t>Diminta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Pengguna memilih subjek,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menerima nomor tugas.</a:t>
            </a:r>
          </a:p>
        </p:txBody>
      </p:sp>
      <p:sp>
        <p:nvSpPr>
          <p:cNvPr id="9" name="Teks 9"/>
          <p:cNvSpPr txBox="1"/>
          <p:nvPr/>
        </p:nvSpPr>
        <p:spPr>
          <a:xfrm>
            <a:off x="3295650" y="265176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800" b="1" dirty="0">
                <a:solidFill>
                  <a:srgbClr val="E4572E"/>
                </a:solidFill>
                <a:latin typeface="Calibri"/>
                <a:cs typeface="Calibri"/>
              </a:rPr>
              <a:t>›</a:t>
            </a:r>
          </a:p>
        </p:txBody>
      </p:sp>
      <p:sp>
        <p:nvSpPr>
          <p:cNvPr id="10" name="Bidang 10"/>
          <p:cNvSpPr/>
          <p:nvPr/>
        </p:nvSpPr>
        <p:spPr>
          <a:xfrm>
            <a:off x="3524250" y="1783080"/>
            <a:ext cx="2457450" cy="2194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idang 11"/>
          <p:cNvSpPr/>
          <p:nvPr/>
        </p:nvSpPr>
        <p:spPr>
          <a:xfrm>
            <a:off x="3524250" y="1554480"/>
            <a:ext cx="457200" cy="457200"/>
          </a:xfrm>
          <a:prstGeom prst="rect">
            <a:avLst/>
          </a:prstGeom>
          <a:solidFill>
            <a:srgbClr val="1232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ks 12"/>
          <p:cNvSpPr txBox="1"/>
          <p:nvPr/>
        </p:nvSpPr>
        <p:spPr>
          <a:xfrm>
            <a:off x="352425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Teks 13"/>
          <p:cNvSpPr txBox="1"/>
          <p:nvPr/>
        </p:nvSpPr>
        <p:spPr>
          <a:xfrm>
            <a:off x="3707130" y="2103120"/>
            <a:ext cx="2091690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dirty="0">
                <a:solidFill>
                  <a:srgbClr val="12324F"/>
                </a:solidFill>
                <a:latin typeface="Calibri"/>
                <a:cs typeface="Calibri"/>
              </a:rPr>
              <a:t>Masuk antrian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Tugas dititipkan ke antrian,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antarmuka tidak terkunci.</a:t>
            </a:r>
          </a:p>
        </p:txBody>
      </p:sp>
      <p:sp>
        <p:nvSpPr>
          <p:cNvPr id="14" name="Teks 14"/>
          <p:cNvSpPr txBox="1"/>
          <p:nvPr/>
        </p:nvSpPr>
        <p:spPr>
          <a:xfrm>
            <a:off x="5981700" y="265176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800" b="1" dirty="0">
                <a:solidFill>
                  <a:srgbClr val="E4572E"/>
                </a:solidFill>
                <a:latin typeface="Calibri"/>
                <a:cs typeface="Calibri"/>
              </a:rPr>
              <a:t>›</a:t>
            </a:r>
          </a:p>
        </p:txBody>
      </p:sp>
      <p:sp>
        <p:nvSpPr>
          <p:cNvPr id="15" name="Bidang 15"/>
          <p:cNvSpPr/>
          <p:nvPr/>
        </p:nvSpPr>
        <p:spPr>
          <a:xfrm>
            <a:off x="6210300" y="1783080"/>
            <a:ext cx="2457450" cy="2194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Bidang 16"/>
          <p:cNvSpPr/>
          <p:nvPr/>
        </p:nvSpPr>
        <p:spPr>
          <a:xfrm>
            <a:off x="6210300" y="1554480"/>
            <a:ext cx="457200" cy="457200"/>
          </a:xfrm>
          <a:prstGeom prst="rect">
            <a:avLst/>
          </a:prstGeom>
          <a:solidFill>
            <a:srgbClr val="1232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ks 17"/>
          <p:cNvSpPr txBox="1"/>
          <p:nvPr/>
        </p:nvSpPr>
        <p:spPr>
          <a:xfrm>
            <a:off x="621030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8" name="Teks 18"/>
          <p:cNvSpPr txBox="1"/>
          <p:nvPr/>
        </p:nvSpPr>
        <p:spPr>
          <a:xfrm>
            <a:off x="6393180" y="2103120"/>
            <a:ext cx="2091690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dirty="0">
                <a:solidFill>
                  <a:srgbClr val="12324F"/>
                </a:solidFill>
                <a:latin typeface="Calibri"/>
                <a:cs typeface="Calibri"/>
              </a:rPr>
              <a:t>Dikerjakan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Dua ringkasan digarap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bersamaan, lalu naskah,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lalu iklan.</a:t>
            </a:r>
          </a:p>
        </p:txBody>
      </p:sp>
      <p:sp>
        <p:nvSpPr>
          <p:cNvPr id="19" name="Teks 19"/>
          <p:cNvSpPr txBox="1"/>
          <p:nvPr/>
        </p:nvSpPr>
        <p:spPr>
          <a:xfrm>
            <a:off x="8667750" y="265176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800" b="1" dirty="0">
                <a:solidFill>
                  <a:srgbClr val="E4572E"/>
                </a:solidFill>
                <a:latin typeface="Calibri"/>
                <a:cs typeface="Calibri"/>
              </a:rPr>
              <a:t>›</a:t>
            </a:r>
          </a:p>
        </p:txBody>
      </p:sp>
      <p:sp>
        <p:nvSpPr>
          <p:cNvPr id="20" name="Bidang 20"/>
          <p:cNvSpPr/>
          <p:nvPr/>
        </p:nvSpPr>
        <p:spPr>
          <a:xfrm>
            <a:off x="8896350" y="1783080"/>
            <a:ext cx="2457450" cy="2194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Bidang 21"/>
          <p:cNvSpPr/>
          <p:nvPr/>
        </p:nvSpPr>
        <p:spPr>
          <a:xfrm>
            <a:off x="8896350" y="1554480"/>
            <a:ext cx="457200" cy="457200"/>
          </a:xfrm>
          <a:prstGeom prst="rect">
            <a:avLst/>
          </a:prstGeom>
          <a:solidFill>
            <a:srgbClr val="1232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ks 22"/>
          <p:cNvSpPr txBox="1"/>
          <p:nvPr/>
        </p:nvSpPr>
        <p:spPr>
          <a:xfrm>
            <a:off x="889635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4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3" name="Teks 23"/>
          <p:cNvSpPr txBox="1"/>
          <p:nvPr/>
        </p:nvSpPr>
        <p:spPr>
          <a:xfrm>
            <a:off x="9079230" y="2103120"/>
            <a:ext cx="2091690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dirty="0">
                <a:solidFill>
                  <a:srgbClr val="12324F"/>
                </a:solidFill>
                <a:latin typeface="Calibri"/>
                <a:cs typeface="Calibri"/>
              </a:rPr>
              <a:t>Tersimpan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Hasil disimpan utuh,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status berubah menjadi</a:t>
            </a:r>
          </a:p>
          <a:p>
            <a:pPr marL="0" indent="0" algn="l">
              <a:lnSpc>
                <a:spcPct val="102000"/>
              </a:lnSpc>
              <a:spcBef>
                <a:spcPts val="220"/>
              </a:spcBef>
              <a:buNone/>
            </a:pPr>
            <a:r>
              <a:rPr lang="id-ID" sz="1150" dirty="0">
                <a:solidFill>
                  <a:srgbClr val="233642"/>
                </a:solidFill>
                <a:latin typeface="Calibri"/>
                <a:cs typeface="Calibri"/>
              </a:rPr>
              <a:t>selesai atau gagal.</a:t>
            </a:r>
          </a:p>
        </p:txBody>
      </p:sp>
      <p:sp>
        <p:nvSpPr>
          <p:cNvPr id="24" name="Teks 24"/>
          <p:cNvSpPr txBox="1"/>
          <p:nvPr/>
        </p:nvSpPr>
        <p:spPr>
          <a:xfrm>
            <a:off x="838200" y="4343400"/>
            <a:ext cx="105156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400" dirty="0">
                <a:solidFill>
                  <a:srgbClr val="233642"/>
                </a:solidFill>
                <a:latin typeface="Calibri"/>
                <a:cs typeface="Calibri"/>
              </a:rPr>
              <a:t>Menjawab kebutuhan non-fungsional 3.1.5: antarmuka tidak boleh terkunci menunggu proses yang panjang.</a:t>
            </a:r>
          </a:p>
        </p:txBody>
      </p:sp>
      <p:sp>
        <p:nvSpPr>
          <p:cNvPr id="25" name="Bidang 25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ks 26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27" name="Teks 27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Metode Penelitian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III · 3.2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508760"/>
            <a:ext cx="4983480" cy="41148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ks 6"/>
          <p:cNvSpPr txBox="1"/>
          <p:nvPr/>
        </p:nvSpPr>
        <p:spPr>
          <a:xfrm>
            <a:off x="838200" y="1645920"/>
            <a:ext cx="498348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spc="100" dirty="0">
                <a:solidFill>
                  <a:srgbClr val="E4572E"/>
                </a:solidFill>
                <a:latin typeface="Calibri"/>
                <a:cs typeface="Calibri"/>
              </a:rPr>
              <a:t>Pendekatan campuran</a:t>
            </a:r>
          </a:p>
        </p:txBody>
      </p:sp>
      <p:sp>
        <p:nvSpPr>
          <p:cNvPr id="7" name="Teks 7"/>
          <p:cNvSpPr txBox="1"/>
          <p:nvPr/>
        </p:nvSpPr>
        <p:spPr>
          <a:xfrm>
            <a:off x="838200" y="2057400"/>
            <a:ext cx="4983480" cy="4009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50" i="1" dirty="0">
                <a:solidFill>
                  <a:srgbClr val="233642"/>
                </a:solidFill>
                <a:latin typeface="Calibri"/>
                <a:cs typeface="Calibri"/>
              </a:rPr>
              <a:t>Kuantitatif</a:t>
            </a: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 — mengukur efisiensi waktu.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50" i="1" dirty="0">
                <a:solidFill>
                  <a:srgbClr val="233642"/>
                </a:solidFill>
                <a:latin typeface="Calibri"/>
                <a:cs typeface="Calibri"/>
              </a:rPr>
              <a:t>Berbasis penilaian</a:t>
            </a: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 — rubrik </a:t>
            </a:r>
            <a:r>
              <a:rPr lang="id-ID" sz="1550" i="1" dirty="0">
                <a:solidFill>
                  <a:srgbClr val="233642"/>
                </a:solidFill>
                <a:latin typeface="Calibri"/>
                <a:cs typeface="Calibri"/>
              </a:rPr>
              <a:t>brand voice</a:t>
            </a: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550" i="1" dirty="0">
                <a:solidFill>
                  <a:srgbClr val="233642"/>
                </a:solidFill>
                <a:latin typeface="Calibri"/>
                <a:cs typeface="Calibri"/>
              </a:rPr>
              <a:t>Kualitatif terbatas</a:t>
            </a: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 — observasi dan wawancara.</a:t>
            </a:r>
          </a:p>
        </p:txBody>
      </p:sp>
      <p:sp>
        <p:nvSpPr>
          <p:cNvPr id="8" name="Bidang 8"/>
          <p:cNvSpPr/>
          <p:nvPr/>
        </p:nvSpPr>
        <p:spPr>
          <a:xfrm>
            <a:off x="6370320" y="1508760"/>
            <a:ext cx="4983480" cy="41148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ks 9"/>
          <p:cNvSpPr txBox="1"/>
          <p:nvPr/>
        </p:nvSpPr>
        <p:spPr>
          <a:xfrm>
            <a:off x="6370320" y="1645920"/>
            <a:ext cx="498348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spc="100" dirty="0">
                <a:solidFill>
                  <a:srgbClr val="E4572E"/>
                </a:solidFill>
                <a:latin typeface="Calibri"/>
                <a:cs typeface="Calibri"/>
              </a:rPr>
              <a:t>Pengumpulan data</a:t>
            </a:r>
          </a:p>
        </p:txBody>
      </p:sp>
      <p:sp>
        <p:nvSpPr>
          <p:cNvPr id="10" name="Teks 10"/>
          <p:cNvSpPr txBox="1"/>
          <p:nvPr/>
        </p:nvSpPr>
        <p:spPr>
          <a:xfrm>
            <a:off x="6370320" y="2057400"/>
            <a:ext cx="4983480" cy="4009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Observasi proses berjalan;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Wawancara dengan admin;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Dokumentasi waktu dan arsip naskah;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550" dirty="0">
                <a:solidFill>
                  <a:srgbClr val="233642"/>
                </a:solidFill>
                <a:latin typeface="Calibri"/>
                <a:cs typeface="Calibri"/>
              </a:rPr>
              <a:t>Eksperimen penghasilan naskah.</a:t>
            </a:r>
          </a:p>
        </p:txBody>
      </p:sp>
      <p:sp>
        <p:nvSpPr>
          <p:cNvPr id="11" name="Bidang 11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ks 12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3" name="Teks 13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Rubrik Konsistensi </a:t>
            </a:r>
            <a:r>
              <a:rPr lang="id-ID" sz="2600" b="1" i="1" dirty="0">
                <a:solidFill>
                  <a:srgbClr val="12324F"/>
                </a:solidFill>
                <a:latin typeface="Calibri"/>
                <a:cs typeface="Calibri"/>
              </a:rPr>
              <a:t>Brand Voice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III · 3.2.4 · Tabel 3.2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508760"/>
            <a:ext cx="10515600" cy="548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idang 6"/>
          <p:cNvSpPr/>
          <p:nvPr/>
        </p:nvSpPr>
        <p:spPr>
          <a:xfrm>
            <a:off x="838200" y="1508760"/>
            <a:ext cx="41148" cy="5486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1043940" y="1508760"/>
            <a:ext cx="101041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b="1" dirty="0">
                <a:solidFill>
                  <a:srgbClr val="12324F"/>
                </a:solidFill>
                <a:latin typeface="Calibri"/>
                <a:cs typeface="Calibri"/>
              </a:rPr>
              <a:t>Lima dimensi × skor 1–4 → maksimal 20 · 17–20 sangat konsisten · 5–8 tidak konsisten</a:t>
            </a:r>
          </a:p>
        </p:txBody>
      </p:sp>
      <p:graphicFrame>
        <p:nvGraphicFramePr>
          <p:cNvPr id="8" name="Tabel 8"/>
          <p:cNvGraphicFramePr>
            <a:graphicFrameLocks noGrp="1"/>
          </p:cNvGraphicFramePr>
          <p:nvPr/>
        </p:nvGraphicFramePr>
        <p:xfrm>
          <a:off x="838200" y="2240280"/>
          <a:ext cx="10515600" cy="320040"/>
        </p:xfrm>
        <a:graphic>
          <a:graphicData uri="http://schemas.openxmlformats.org/drawingml/2006/table">
            <a:tbl>
              <a:tblPr firstRow="1"/>
              <a:tblGrid>
                <a:gridCol w="3375377"/>
                <a:gridCol w="7140222"/>
              </a:tblGrid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Dimensi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12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Yang dinilai pada skor tertinggi (4)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12324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Gaya bahasa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Nada, sapaan, dan formalitas konsisten di seluruh teks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Sasaran audiens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Diksi dan rujukan tepat sasaran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Keunggulan produk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Keunggulan utama tersampaikan sesuai profil merek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Kepatuhan batasan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Seluruh batasan penulisan dipatuhi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Ajakan bertindak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Bentuk dan penempatan sesuai profil merek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Bidang 9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1" name="Teks 11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Rancangan Pengujian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III · 3.2.5</a:t>
            </a:r>
          </a:p>
        </p:txBody>
      </p:sp>
      <p:sp>
        <p:nvSpPr>
          <p:cNvPr id="5" name="Bidang 5"/>
          <p:cNvSpPr/>
          <p:nvPr/>
        </p:nvSpPr>
        <p:spPr>
          <a:xfrm>
            <a:off x="838200" y="1508760"/>
            <a:ext cx="10515600" cy="5486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idang 6"/>
          <p:cNvSpPr/>
          <p:nvPr/>
        </p:nvSpPr>
        <p:spPr>
          <a:xfrm>
            <a:off x="838200" y="1508760"/>
            <a:ext cx="41148" cy="5486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1043940" y="1508760"/>
            <a:ext cx="101041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600" b="1" dirty="0">
                <a:solidFill>
                  <a:srgbClr val="12324F"/>
                </a:solidFill>
                <a:latin typeface="Calibri"/>
                <a:cs typeface="Calibri"/>
              </a:rPr>
              <a:t>Peneliti bagian dari instansi yang diteliti — lima pengaman ditetapkan</a:t>
            </a:r>
          </a:p>
        </p:txBody>
      </p:sp>
      <p:sp>
        <p:nvSpPr>
          <p:cNvPr id="8" name="Teks 8"/>
          <p:cNvSpPr txBox="1"/>
          <p:nvPr/>
        </p:nvSpPr>
        <p:spPr>
          <a:xfrm>
            <a:off x="838200" y="2240280"/>
            <a:ext cx="10515600" cy="3857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700" dirty="0">
                <a:solidFill>
                  <a:srgbClr val="233642"/>
                </a:solidFill>
                <a:latin typeface="Calibri"/>
                <a:cs typeface="Calibri"/>
              </a:rPr>
              <a:t>Penilaian </a:t>
            </a:r>
            <a:r>
              <a:rPr lang="id-ID" sz="1700" i="1" dirty="0">
                <a:solidFill>
                  <a:srgbClr val="233642"/>
                </a:solidFill>
                <a:latin typeface="Calibri"/>
                <a:cs typeface="Calibri"/>
              </a:rPr>
              <a:t>buta</a:t>
            </a:r>
            <a:r>
              <a:rPr lang="id-ID" sz="1700" dirty="0">
                <a:solidFill>
                  <a:srgbClr val="233642"/>
                </a:solidFill>
                <a:latin typeface="Calibri"/>
                <a:cs typeface="Calibri"/>
              </a:rPr>
              <a:t>: penilai tidak tahu asal-usul naskah;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700" dirty="0">
                <a:solidFill>
                  <a:srgbClr val="233642"/>
                </a:solidFill>
                <a:latin typeface="Calibri"/>
                <a:cs typeface="Calibri"/>
              </a:rPr>
              <a:t>Urutan sampel diacak;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700" dirty="0">
                <a:solidFill>
                  <a:srgbClr val="233642"/>
                </a:solidFill>
                <a:latin typeface="Calibri"/>
                <a:cs typeface="Calibri"/>
              </a:rPr>
              <a:t>Sekurang-kurangnya tiga penilai, bekerja mandiri;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700" dirty="0">
                <a:solidFill>
                  <a:srgbClr val="233642"/>
                </a:solidFill>
                <a:latin typeface="Calibri"/>
                <a:cs typeface="Calibri"/>
              </a:rPr>
              <a:t>Kesepakatan antar-penilai dilaporkan, bukan disembunyikan;</a:t>
            </a:r>
          </a:p>
          <a:p>
            <a:pPr marL="342900" indent="-34290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Calibri"/>
              <a:buAutoNum type="alphaLcPeriod"/>
            </a:pPr>
            <a:r>
              <a:rPr lang="id-ID" sz="1700" dirty="0">
                <a:solidFill>
                  <a:srgbClr val="233642"/>
                </a:solidFill>
                <a:latin typeface="Calibri"/>
                <a:cs typeface="Calibri"/>
              </a:rPr>
              <a:t>Peneliti tidak menjadi penilai.</a:t>
            </a:r>
          </a:p>
        </p:txBody>
      </p:sp>
      <p:sp>
        <p:nvSpPr>
          <p:cNvPr id="9" name="Bidang 9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1" name="Teks 11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Metode Perancangan Sistem — RAD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III · 3.3</a:t>
            </a:r>
          </a:p>
        </p:txBody>
      </p:sp>
      <p:sp>
        <p:nvSpPr>
          <p:cNvPr id="5" name="Teks 5"/>
          <p:cNvSpPr txBox="1"/>
          <p:nvPr/>
        </p:nvSpPr>
        <p:spPr>
          <a:xfrm>
            <a:off x="838200" y="1508760"/>
            <a:ext cx="5303520" cy="4589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Requirements Planning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— observasi, wawancara, dokumen acuan.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User Design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— rancangan antarmuka dan basis data.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Construction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— dibangun bertahap, tiap bagian diuji.</a:t>
            </a:r>
          </a:p>
          <a:p>
            <a:pPr marL="285750" indent="-285750" algn="l">
              <a:lnSpc>
                <a:spcPct val="102000"/>
              </a:lnSpc>
              <a:spcBef>
                <a:spcPts val="600"/>
              </a:spcBef>
              <a:buClr>
                <a:srgbClr val="E4572E"/>
              </a:buClr>
              <a:buFont typeface="Arial"/>
              <a:buChar char="•"/>
            </a:pPr>
            <a:r>
              <a:rPr lang="id-ID" sz="1600" i="1" dirty="0">
                <a:solidFill>
                  <a:srgbClr val="233642"/>
                </a:solidFill>
                <a:latin typeface="Calibri"/>
                <a:cs typeface="Calibri"/>
              </a:rPr>
              <a:t>Cutover</a:t>
            </a:r>
            <a:r>
              <a:rPr lang="id-ID" sz="1600" dirty="0">
                <a:solidFill>
                  <a:srgbClr val="233642"/>
                </a:solidFill>
                <a:latin typeface="Calibri"/>
                <a:cs typeface="Calibri"/>
              </a:rPr>
              <a:t> — penempatan ke peladen uji.</a:t>
            </a:r>
          </a:p>
        </p:txBody>
      </p:sp>
      <p:sp>
        <p:nvSpPr>
          <p:cNvPr id="6" name="Bidang 6"/>
          <p:cNvSpPr/>
          <p:nvPr/>
        </p:nvSpPr>
        <p:spPr>
          <a:xfrm>
            <a:off x="6598920" y="1508760"/>
            <a:ext cx="4754880" cy="4229100"/>
          </a:xfrm>
          <a:prstGeom prst="rect">
            <a:avLst/>
          </a:prstGeom>
          <a:solidFill>
            <a:srgbClr val="F2F5F7"/>
          </a:solidFill>
          <a:ln w="12700">
            <a:solidFill>
              <a:srgbClr val="6B7A85"/>
            </a:solidFill>
            <a:prstDash val="dash"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6736080" y="1508760"/>
            <a:ext cx="4480560" cy="42291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300" dirty="0">
                <a:solidFill>
                  <a:srgbClr val="6B7A85"/>
                </a:solidFill>
                <a:latin typeface="Calibri"/>
                <a:cs typeface="Calibri"/>
              </a:rPr>
              <a:t>[ sisipkan Gambar 3.5 ]</a:t>
            </a:r>
          </a:p>
        </p:txBody>
      </p:sp>
      <p:sp>
        <p:nvSpPr>
          <p:cNvPr id="8" name="Teks 8"/>
          <p:cNvSpPr txBox="1"/>
          <p:nvPr/>
        </p:nvSpPr>
        <p:spPr>
          <a:xfrm>
            <a:off x="6598920" y="5875020"/>
            <a:ext cx="475488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dirty="0">
                <a:solidFill>
                  <a:srgbClr val="6B7A85"/>
                </a:solidFill>
                <a:latin typeface="Calibri"/>
                <a:cs typeface="Calibri"/>
              </a:rPr>
              <a:t>Gambar 3.5</a:t>
            </a:r>
          </a:p>
        </p:txBody>
      </p:sp>
      <p:sp>
        <p:nvSpPr>
          <p:cNvPr id="9" name="Bidang 9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ks 10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11" name="Teks 11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 2"/>
          <p:cNvSpPr txBox="1"/>
          <p:nvPr/>
        </p:nvSpPr>
        <p:spPr>
          <a:xfrm>
            <a:off x="838200" y="4800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2600" b="1" dirty="0">
                <a:solidFill>
                  <a:srgbClr val="12324F"/>
                </a:solidFill>
                <a:latin typeface="Calibri"/>
                <a:cs typeface="Calibri"/>
              </a:rPr>
              <a:t>Jadwal Penelitian</a:t>
            </a:r>
          </a:p>
        </p:txBody>
      </p:sp>
      <p:sp>
        <p:nvSpPr>
          <p:cNvPr id="3" name="Bidang 3"/>
          <p:cNvSpPr/>
          <p:nvPr/>
        </p:nvSpPr>
        <p:spPr>
          <a:xfrm>
            <a:off x="838200" y="117094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ks 4"/>
          <p:cNvSpPr txBox="1"/>
          <p:nvPr/>
        </p:nvSpPr>
        <p:spPr>
          <a:xfrm>
            <a:off x="1615440" y="1110940"/>
            <a:ext cx="973836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200" spc="120" dirty="0">
                <a:solidFill>
                  <a:srgbClr val="6B7A85"/>
                </a:solidFill>
                <a:latin typeface="Calibri"/>
                <a:cs typeface="Calibri"/>
              </a:rPr>
              <a:t>BAB III · 3.4 · Tabel 3.3</a:t>
            </a:r>
          </a:p>
        </p:txBody>
      </p:sp>
      <p:graphicFrame>
        <p:nvGraphicFramePr>
          <p:cNvPr id="5" name="Tabel 5"/>
          <p:cNvGraphicFramePr>
            <a:graphicFrameLocks noGrp="1"/>
          </p:cNvGraphicFramePr>
          <p:nvPr/>
        </p:nvGraphicFramePr>
        <p:xfrm>
          <a:off x="838200" y="1508760"/>
          <a:ext cx="10515600" cy="320040"/>
        </p:xfrm>
        <a:graphic>
          <a:graphicData uri="http://schemas.openxmlformats.org/drawingml/2006/table">
            <a:tbl>
              <a:tblPr firstRow="1"/>
              <a:tblGrid>
                <a:gridCol w="4673600"/>
                <a:gridCol w="1168400"/>
                <a:gridCol w="1168400"/>
                <a:gridCol w="1168400"/>
                <a:gridCol w="1168400"/>
                <a:gridCol w="1168400"/>
              </a:tblGrid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Kegiatan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12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Sep 26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12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Okt 26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12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Nov 26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12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 26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12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Jan 27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12324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Studi literatur dan penyusunan proposal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Pengumpulan data dan wawancara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Analisis kebutuhan dan perancangan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Implementasi dan penyempurnaan sistem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Pengumpulan materi dan penilaian rubrik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Pengukuran waktu produksi konten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2F5F7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Analisis hasil dan penyusunan laporan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id-ID" sz="1250" dirty="0">
                          <a:solidFill>
                            <a:srgbClr val="233642"/>
                          </a:solidFill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id-ID"/>
                    </a:p>
                  </a:txBody>
                  <a:tcPr marL="91440" marR="91440" marT="54000" marB="54000" anchor="ctr">
                    <a:lnB w="12700">
                      <a:solidFill>
                        <a:srgbClr val="DCE3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idang 6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8" name="Teks 8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dang 2"/>
          <p:cNvSpPr/>
          <p:nvPr/>
        </p:nvSpPr>
        <p:spPr>
          <a:xfrm>
            <a:off x="0" y="0"/>
            <a:ext cx="12192000" cy="20955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ks 3"/>
          <p:cNvSpPr txBox="1"/>
          <p:nvPr/>
        </p:nvSpPr>
        <p:spPr>
          <a:xfrm>
            <a:off x="838200" y="2400300"/>
            <a:ext cx="10515600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4000" b="1" dirty="0">
                <a:solidFill>
                  <a:srgbClr val="12324F"/>
                </a:solidFill>
                <a:latin typeface="Calibri"/>
                <a:cs typeface="Calibri"/>
              </a:rPr>
              <a:t>Terima kasih</a:t>
            </a:r>
          </a:p>
        </p:txBody>
      </p:sp>
      <p:sp>
        <p:nvSpPr>
          <p:cNvPr id="4" name="Bidang 4"/>
          <p:cNvSpPr/>
          <p:nvPr/>
        </p:nvSpPr>
        <p:spPr>
          <a:xfrm>
            <a:off x="838200" y="3474720"/>
            <a:ext cx="640080" cy="41148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ks 5"/>
          <p:cNvSpPr txBox="1"/>
          <p:nvPr/>
        </p:nvSpPr>
        <p:spPr>
          <a:xfrm>
            <a:off x="838200" y="3749040"/>
            <a:ext cx="105156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700" dirty="0">
                <a:solidFill>
                  <a:srgbClr val="233642"/>
                </a:solidFill>
                <a:latin typeface="Calibri"/>
                <a:cs typeface="Calibri"/>
              </a:rPr>
              <a:t>Mohon arahan dan masukan dari Bapak/Ibu Dosen Penguji</a:t>
            </a:r>
          </a:p>
          <a:p>
            <a:pPr marL="0" indent="0" algn="l">
              <a:lnSpc>
                <a:spcPct val="102000"/>
              </a:lnSpc>
              <a:spcBef>
                <a:spcPts val="400"/>
              </a:spcBef>
              <a:buNone/>
            </a:pPr>
            <a:r>
              <a:rPr lang="id-ID" sz="1400" dirty="0">
                <a:solidFill>
                  <a:srgbClr val="6B7A85"/>
                </a:solidFill>
                <a:latin typeface="Calibri"/>
                <a:cs typeface="Calibri"/>
              </a:rPr>
              <a:t>Muhammad Faizal Triasa · NIM 231011701215 · Sistem Informasi S-1</a:t>
            </a:r>
          </a:p>
        </p:txBody>
      </p:sp>
      <p:sp>
        <p:nvSpPr>
          <p:cNvPr id="6" name="Bidang 6"/>
          <p:cNvSpPr/>
          <p:nvPr/>
        </p:nvSpPr>
        <p:spPr>
          <a:xfrm>
            <a:off x="838200" y="6217920"/>
            <a:ext cx="10515600" cy="9525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ks 7"/>
          <p:cNvSpPr txBox="1"/>
          <p:nvPr/>
        </p:nvSpPr>
        <p:spPr>
          <a:xfrm>
            <a:off x="838200" y="6309360"/>
            <a:ext cx="97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Sidang Proposal Skripsi · Muhammad Faizal Triasa · 231011701215</a:t>
            </a:r>
          </a:p>
        </p:txBody>
      </p:sp>
      <p:sp>
        <p:nvSpPr>
          <p:cNvPr id="8" name="Teks 8"/>
          <p:cNvSpPr txBox="1"/>
          <p:nvPr/>
        </p:nvSpPr>
        <p:spPr>
          <a:xfrm>
            <a:off x="10553800" y="630936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2000"/>
              </a:lnSpc>
              <a:spcBef>
                <a:spcPts val="0"/>
              </a:spcBef>
              <a:buNone/>
            </a:pPr>
            <a:r>
              <a:rPr lang="id-ID" sz="1000" dirty="0">
                <a:solidFill>
                  <a:srgbClr val="6B7A85"/>
                </a:solidFill>
                <a:latin typeface="Calibri"/>
                <a:cs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dang">
  <a:themeElements>
    <a:clrScheme name="Sidang">
      <a:dk1>
        <a:sysClr val="windowText" lastClr="000000"/>
      </a:dk1>
      <a:lt1>
        <a:sysClr val="window" lastClr="FFFFFF"/>
      </a:lt1>
      <a:dk2>
        <a:srgbClr val="12324F"/>
      </a:dk2>
      <a:lt2>
        <a:srgbClr val="F2F5F7"/>
      </a:lt2>
      <a:accent1>
        <a:srgbClr val="12324F"/>
      </a:accent1>
      <a:accent2>
        <a:srgbClr val="E4572E"/>
      </a:accent2>
      <a:accent3>
        <a:srgbClr val="6B7A85"/>
      </a:accent3>
      <a:accent4>
        <a:srgbClr val="233642"/>
      </a:accent4>
      <a:accent5>
        <a:srgbClr val="DCE3E8"/>
      </a:accent5>
      <a:accent6>
        <a:srgbClr val="A3B1BB"/>
      </a:accent6>
      <a:hlink>
        <a:srgbClr val="12324F"/>
      </a:hlink>
      <a:folHlink>
        <a:srgbClr val="6B7A85"/>
      </a:folHlink>
    </a:clrScheme>
    <a:fontScheme name="Sidan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ida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Perancangan Sistem Otomasi Produksi Konten Pemasaran Berbasis Multi-Agent AI untuk Meningkatkan Efisiensi dan Konsistensi Brand Voice</dc:title>
  <dc:creator>Muhammad Faizal Triasa</dc:creator>
  <cp:lastModifiedBy>Muhammad Faizal Triasa</cp:lastModifiedBy>
</cp:coreProperties>
</file>